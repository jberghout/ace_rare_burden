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80" r:id="rId11"/>
    <p:sldId id="262" r:id="rId12"/>
    <p:sldId id="270" r:id="rId13"/>
    <p:sldId id="268" r:id="rId14"/>
    <p:sldId id="279" r:id="rId15"/>
    <p:sldId id="267" r:id="rId16"/>
    <p:sldId id="278" r:id="rId17"/>
    <p:sldId id="269" r:id="rId18"/>
    <p:sldId id="271" r:id="rId19"/>
    <p:sldId id="273" r:id="rId20"/>
    <p:sldId id="272" r:id="rId21"/>
    <p:sldId id="274" r:id="rId22"/>
    <p:sldId id="281" r:id="rId23"/>
    <p:sldId id="275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  <a:srgbClr val="CCD3D8"/>
    <a:srgbClr val="E7E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61537-EA62-EF4C-AA0A-C337A9103FDF}" v="206" dt="2026-09-07T20:47:44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99"/>
    <p:restoredTop sz="94622"/>
  </p:normalViewPr>
  <p:slideViewPr>
    <p:cSldViewPr snapToGrid="0">
      <p:cViewPr>
        <p:scale>
          <a:sx n="74" d="100"/>
          <a:sy n="74" d="100"/>
        </p:scale>
        <p:origin x="728" y="1008"/>
      </p:cViewPr>
      <p:guideLst/>
    </p:cSldViewPr>
  </p:slideViewPr>
  <p:outlineViewPr>
    <p:cViewPr>
      <p:scale>
        <a:sx n="33" d="100"/>
        <a:sy n="33" d="100"/>
      </p:scale>
      <p:origin x="0" y="-48936"/>
    </p:cViewPr>
  </p:outlineViewPr>
  <p:notesTextViewPr>
    <p:cViewPr>
      <p:scale>
        <a:sx n="60" d="100"/>
        <a:sy n="6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hout, Joanne (NIH/NIAID) [C]" userId="d15a409a-f0dc-40cf-9c9a-c9d1b560d691" providerId="ADAL" clId="{40EC691D-D2DF-5B2D-915A-C4E95DF248E3}"/>
    <pc:docChg chg="undo custSel addSld delSld modSld sldOrd">
      <pc:chgData name="Berghout, Joanne (NIH/NIAID) [C]" userId="d15a409a-f0dc-40cf-9c9a-c9d1b560d691" providerId="ADAL" clId="{40EC691D-D2DF-5B2D-915A-C4E95DF248E3}" dt="2026-09-07T20:47:44.518" v="564"/>
      <pc:docMkLst>
        <pc:docMk/>
      </pc:docMkLst>
      <pc:sldChg chg="modSp mod">
        <pc:chgData name="Berghout, Joanne (NIH/NIAID) [C]" userId="d15a409a-f0dc-40cf-9c9a-c9d1b560d691" providerId="ADAL" clId="{40EC691D-D2DF-5B2D-915A-C4E95DF248E3}" dt="2026-09-07T19:58:22.507" v="391" actId="207"/>
        <pc:sldMkLst>
          <pc:docMk/>
          <pc:sldMk cId="405480220" sldId="256"/>
        </pc:sldMkLst>
        <pc:spChg chg="mod">
          <ac:chgData name="Berghout, Joanne (NIH/NIAID) [C]" userId="d15a409a-f0dc-40cf-9c9a-c9d1b560d691" providerId="ADAL" clId="{40EC691D-D2DF-5B2D-915A-C4E95DF248E3}" dt="2026-09-07T19:58:22.507" v="391" actId="207"/>
          <ac:spMkLst>
            <pc:docMk/>
            <pc:sldMk cId="405480220" sldId="256"/>
            <ac:spMk id="2" creationId="{BD4EC6FE-CA9F-A806-6C49-1B6C262B7480}"/>
          </ac:spMkLst>
        </pc:spChg>
        <pc:spChg chg="mod">
          <ac:chgData name="Berghout, Joanne (NIH/NIAID) [C]" userId="d15a409a-f0dc-40cf-9c9a-c9d1b560d691" providerId="ADAL" clId="{40EC691D-D2DF-5B2D-915A-C4E95DF248E3}" dt="2026-09-07T10:59:57.031" v="5" actId="20577"/>
          <ac:spMkLst>
            <pc:docMk/>
            <pc:sldMk cId="405480220" sldId="256"/>
            <ac:spMk id="3" creationId="{9D39204C-430B-6C98-1795-80445E9C7C6A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19:58:25.393" v="392" actId="207"/>
        <pc:sldMkLst>
          <pc:docMk/>
          <pc:sldMk cId="3879747267" sldId="257"/>
        </pc:sldMkLst>
        <pc:spChg chg="mod">
          <ac:chgData name="Berghout, Joanne (NIH/NIAID) [C]" userId="d15a409a-f0dc-40cf-9c9a-c9d1b560d691" providerId="ADAL" clId="{40EC691D-D2DF-5B2D-915A-C4E95DF248E3}" dt="2026-09-07T19:58:25.393" v="392" actId="207"/>
          <ac:spMkLst>
            <pc:docMk/>
            <pc:sldMk cId="3879747267" sldId="257"/>
            <ac:spMk id="2" creationId="{78339A88-DE3C-5378-7E5B-FA2C2888EBD0}"/>
          </ac:spMkLst>
        </pc:spChg>
        <pc:spChg chg="mod">
          <ac:chgData name="Berghout, Joanne (NIH/NIAID) [C]" userId="d15a409a-f0dc-40cf-9c9a-c9d1b560d691" providerId="ADAL" clId="{40EC691D-D2DF-5B2D-915A-C4E95DF248E3}" dt="2026-09-07T11:02:59.648" v="30"/>
          <ac:spMkLst>
            <pc:docMk/>
            <pc:sldMk cId="3879747267" sldId="257"/>
            <ac:spMk id="3" creationId="{C4771F10-62DA-DA11-0D10-8992BC1C5360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19:13:32.412" v="134" actId="207"/>
        <pc:sldMkLst>
          <pc:docMk/>
          <pc:sldMk cId="2924442323" sldId="258"/>
        </pc:sldMkLst>
        <pc:spChg chg="mod">
          <ac:chgData name="Berghout, Joanne (NIH/NIAID) [C]" userId="d15a409a-f0dc-40cf-9c9a-c9d1b560d691" providerId="ADAL" clId="{40EC691D-D2DF-5B2D-915A-C4E95DF248E3}" dt="2026-09-07T19:13:32.412" v="134" actId="207"/>
          <ac:spMkLst>
            <pc:docMk/>
            <pc:sldMk cId="2924442323" sldId="258"/>
            <ac:spMk id="2" creationId="{216D8A87-5620-D263-1AE7-6205EAD15594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11:04:38.898" v="45" actId="207"/>
        <pc:sldMkLst>
          <pc:docMk/>
          <pc:sldMk cId="2107094353" sldId="259"/>
        </pc:sldMkLst>
        <pc:spChg chg="mod">
          <ac:chgData name="Berghout, Joanne (NIH/NIAID) [C]" userId="d15a409a-f0dc-40cf-9c9a-c9d1b560d691" providerId="ADAL" clId="{40EC691D-D2DF-5B2D-915A-C4E95DF248E3}" dt="2026-09-07T11:04:38.898" v="45" actId="207"/>
          <ac:spMkLst>
            <pc:docMk/>
            <pc:sldMk cId="2107094353" sldId="259"/>
            <ac:spMk id="4" creationId="{52C97D3F-7948-2F5A-E36F-E3D140E45997}"/>
          </ac:spMkLst>
        </pc:spChg>
        <pc:spChg chg="mod">
          <ac:chgData name="Berghout, Joanne (NIH/NIAID) [C]" userId="d15a409a-f0dc-40cf-9c9a-c9d1b560d691" providerId="ADAL" clId="{40EC691D-D2DF-5B2D-915A-C4E95DF248E3}" dt="2026-09-07T11:04:33.839" v="43" actId="113"/>
          <ac:spMkLst>
            <pc:docMk/>
            <pc:sldMk cId="2107094353" sldId="259"/>
            <ac:spMk id="5" creationId="{96D9B722-89CD-8000-5CBD-ABBA917AD882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11:06:19.715" v="61"/>
        <pc:sldMkLst>
          <pc:docMk/>
          <pc:sldMk cId="2418273379" sldId="260"/>
        </pc:sldMkLst>
        <pc:spChg chg="mod">
          <ac:chgData name="Berghout, Joanne (NIH/NIAID) [C]" userId="d15a409a-f0dc-40cf-9c9a-c9d1b560d691" providerId="ADAL" clId="{40EC691D-D2DF-5B2D-915A-C4E95DF248E3}" dt="2026-09-07T11:05:11.572" v="53" actId="20577"/>
          <ac:spMkLst>
            <pc:docMk/>
            <pc:sldMk cId="2418273379" sldId="260"/>
            <ac:spMk id="2" creationId="{814BC6FA-7929-EF74-9CB8-1A79D1FA9CA4}"/>
          </ac:spMkLst>
        </pc:spChg>
        <pc:spChg chg="mod">
          <ac:chgData name="Berghout, Joanne (NIH/NIAID) [C]" userId="d15a409a-f0dc-40cf-9c9a-c9d1b560d691" providerId="ADAL" clId="{40EC691D-D2DF-5B2D-915A-C4E95DF248E3}" dt="2026-09-07T11:06:19.715" v="61"/>
          <ac:spMkLst>
            <pc:docMk/>
            <pc:sldMk cId="2418273379" sldId="260"/>
            <ac:spMk id="3" creationId="{D8B5EE4D-BAA1-B32A-5E55-B45BB98716C5}"/>
          </ac:spMkLst>
        </pc:spChg>
      </pc:sldChg>
      <pc:sldChg chg="modSp mod modAnim">
        <pc:chgData name="Berghout, Joanne (NIH/NIAID) [C]" userId="d15a409a-f0dc-40cf-9c9a-c9d1b560d691" providerId="ADAL" clId="{40EC691D-D2DF-5B2D-915A-C4E95DF248E3}" dt="2026-09-07T19:13:41.192" v="135" actId="113"/>
        <pc:sldMkLst>
          <pc:docMk/>
          <pc:sldMk cId="2238211212" sldId="261"/>
        </pc:sldMkLst>
        <pc:spChg chg="mod">
          <ac:chgData name="Berghout, Joanne (NIH/NIAID) [C]" userId="d15a409a-f0dc-40cf-9c9a-c9d1b560d691" providerId="ADAL" clId="{40EC691D-D2DF-5B2D-915A-C4E95DF248E3}" dt="2026-09-07T11:07:40.419" v="68" actId="207"/>
          <ac:spMkLst>
            <pc:docMk/>
            <pc:sldMk cId="2238211212" sldId="261"/>
            <ac:spMk id="2" creationId="{B8E0D702-CD10-4ED8-F12B-A1602CD9CF1A}"/>
          </ac:spMkLst>
        </pc:spChg>
        <pc:spChg chg="mod">
          <ac:chgData name="Berghout, Joanne (NIH/NIAID) [C]" userId="d15a409a-f0dc-40cf-9c9a-c9d1b560d691" providerId="ADAL" clId="{40EC691D-D2DF-5B2D-915A-C4E95DF248E3}" dt="2026-09-07T19:13:41.192" v="135" actId="113"/>
          <ac:spMkLst>
            <pc:docMk/>
            <pc:sldMk cId="2238211212" sldId="261"/>
            <ac:spMk id="8" creationId="{A9D9BCFB-A01F-B354-439A-541AA0895970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19:32:02.008" v="287" actId="14100"/>
        <pc:sldMkLst>
          <pc:docMk/>
          <pc:sldMk cId="3914993908" sldId="262"/>
        </pc:sldMkLst>
        <pc:spChg chg="mod">
          <ac:chgData name="Berghout, Joanne (NIH/NIAID) [C]" userId="d15a409a-f0dc-40cf-9c9a-c9d1b560d691" providerId="ADAL" clId="{40EC691D-D2DF-5B2D-915A-C4E95DF248E3}" dt="2026-09-07T19:30:00.984" v="261" actId="207"/>
          <ac:spMkLst>
            <pc:docMk/>
            <pc:sldMk cId="3914993908" sldId="262"/>
            <ac:spMk id="2" creationId="{50B64EC3-1F3F-1BB3-3D55-E26BD2B996B7}"/>
          </ac:spMkLst>
        </pc:spChg>
        <pc:spChg chg="mod">
          <ac:chgData name="Berghout, Joanne (NIH/NIAID) [C]" userId="d15a409a-f0dc-40cf-9c9a-c9d1b560d691" providerId="ADAL" clId="{40EC691D-D2DF-5B2D-915A-C4E95DF248E3}" dt="2026-09-07T19:32:02.008" v="287" actId="14100"/>
          <ac:spMkLst>
            <pc:docMk/>
            <pc:sldMk cId="3914993908" sldId="262"/>
            <ac:spMk id="3" creationId="{9EBDB964-085F-F084-CBBA-C59CE2FE9A60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19:14:02.776" v="138" actId="1076"/>
        <pc:sldMkLst>
          <pc:docMk/>
          <pc:sldMk cId="435715574" sldId="263"/>
        </pc:sldMkLst>
        <pc:spChg chg="mod">
          <ac:chgData name="Berghout, Joanne (NIH/NIAID) [C]" userId="d15a409a-f0dc-40cf-9c9a-c9d1b560d691" providerId="ADAL" clId="{40EC691D-D2DF-5B2D-915A-C4E95DF248E3}" dt="2026-09-07T11:09:49.666" v="101" actId="255"/>
          <ac:spMkLst>
            <pc:docMk/>
            <pc:sldMk cId="435715574" sldId="263"/>
            <ac:spMk id="2" creationId="{BCCFD708-6C93-9534-00F6-0F372A32B824}"/>
          </ac:spMkLst>
        </pc:spChg>
        <pc:spChg chg="mod">
          <ac:chgData name="Berghout, Joanne (NIH/NIAID) [C]" userId="d15a409a-f0dc-40cf-9c9a-c9d1b560d691" providerId="ADAL" clId="{40EC691D-D2DF-5B2D-915A-C4E95DF248E3}" dt="2026-09-07T11:11:01.031" v="115" actId="27636"/>
          <ac:spMkLst>
            <pc:docMk/>
            <pc:sldMk cId="435715574" sldId="263"/>
            <ac:spMk id="8" creationId="{34AE47A4-551F-75E8-AB52-343170612049}"/>
          </ac:spMkLst>
        </pc:spChg>
        <pc:spChg chg="mod">
          <ac:chgData name="Berghout, Joanne (NIH/NIAID) [C]" userId="d15a409a-f0dc-40cf-9c9a-c9d1b560d691" providerId="ADAL" clId="{40EC691D-D2DF-5B2D-915A-C4E95DF248E3}" dt="2026-09-07T11:11:27.587" v="131" actId="1076"/>
          <ac:spMkLst>
            <pc:docMk/>
            <pc:sldMk cId="435715574" sldId="263"/>
            <ac:spMk id="9" creationId="{8749C1D6-A13A-41C2-533C-BBF6171F58C8}"/>
          </ac:spMkLst>
        </pc:spChg>
        <pc:spChg chg="mod">
          <ac:chgData name="Berghout, Joanne (NIH/NIAID) [C]" userId="d15a409a-f0dc-40cf-9c9a-c9d1b560d691" providerId="ADAL" clId="{40EC691D-D2DF-5B2D-915A-C4E95DF248E3}" dt="2026-09-07T19:13:55.250" v="137" actId="1076"/>
          <ac:spMkLst>
            <pc:docMk/>
            <pc:sldMk cId="435715574" sldId="263"/>
            <ac:spMk id="53" creationId="{4605F34B-D9EE-972D-2D12-FA8C4D5FA889}"/>
          </ac:spMkLst>
        </pc:spChg>
        <pc:spChg chg="mod">
          <ac:chgData name="Berghout, Joanne (NIH/NIAID) [C]" userId="d15a409a-f0dc-40cf-9c9a-c9d1b560d691" providerId="ADAL" clId="{40EC691D-D2DF-5B2D-915A-C4E95DF248E3}" dt="2026-09-07T19:13:55.250" v="137" actId="1076"/>
          <ac:spMkLst>
            <pc:docMk/>
            <pc:sldMk cId="435715574" sldId="263"/>
            <ac:spMk id="54" creationId="{B3CDC8A7-3D21-47DD-EFF4-FEA249327E4E}"/>
          </ac:spMkLst>
        </pc:spChg>
        <pc:spChg chg="mod">
          <ac:chgData name="Berghout, Joanne (NIH/NIAID) [C]" userId="d15a409a-f0dc-40cf-9c9a-c9d1b560d691" providerId="ADAL" clId="{40EC691D-D2DF-5B2D-915A-C4E95DF248E3}" dt="2026-09-07T19:13:55.250" v="137" actId="1076"/>
          <ac:spMkLst>
            <pc:docMk/>
            <pc:sldMk cId="435715574" sldId="263"/>
            <ac:spMk id="55" creationId="{67B0997A-092E-6076-E041-6BE4885AF5A2}"/>
          </ac:spMkLst>
        </pc:spChg>
        <pc:spChg chg="mod">
          <ac:chgData name="Berghout, Joanne (NIH/NIAID) [C]" userId="d15a409a-f0dc-40cf-9c9a-c9d1b560d691" providerId="ADAL" clId="{40EC691D-D2DF-5B2D-915A-C4E95DF248E3}" dt="2026-09-07T19:13:55.250" v="137" actId="1076"/>
          <ac:spMkLst>
            <pc:docMk/>
            <pc:sldMk cId="435715574" sldId="263"/>
            <ac:spMk id="59" creationId="{72D34346-F116-DE28-7044-6F305FA953BE}"/>
          </ac:spMkLst>
        </pc:spChg>
        <pc:spChg chg="mod">
          <ac:chgData name="Berghout, Joanne (NIH/NIAID) [C]" userId="d15a409a-f0dc-40cf-9c9a-c9d1b560d691" providerId="ADAL" clId="{40EC691D-D2DF-5B2D-915A-C4E95DF248E3}" dt="2026-09-07T19:13:55.250" v="137" actId="1076"/>
          <ac:spMkLst>
            <pc:docMk/>
            <pc:sldMk cId="435715574" sldId="263"/>
            <ac:spMk id="60" creationId="{06EC69AB-3320-32FB-ECCD-6A565791CC10}"/>
          </ac:spMkLst>
        </pc:spChg>
        <pc:spChg chg="mod">
          <ac:chgData name="Berghout, Joanne (NIH/NIAID) [C]" userId="d15a409a-f0dc-40cf-9c9a-c9d1b560d691" providerId="ADAL" clId="{40EC691D-D2DF-5B2D-915A-C4E95DF248E3}" dt="2026-09-07T19:14:02.776" v="138" actId="1076"/>
          <ac:spMkLst>
            <pc:docMk/>
            <pc:sldMk cId="435715574" sldId="263"/>
            <ac:spMk id="68" creationId="{2ACFA3F4-7DB1-8EA7-6DF8-52DC6E39BD5E}"/>
          </ac:spMkLst>
        </pc:spChg>
        <pc:spChg chg="mod">
          <ac:chgData name="Berghout, Joanne (NIH/NIAID) [C]" userId="d15a409a-f0dc-40cf-9c9a-c9d1b560d691" providerId="ADAL" clId="{40EC691D-D2DF-5B2D-915A-C4E95DF248E3}" dt="2026-09-07T11:11:48.309" v="133" actId="207"/>
          <ac:spMkLst>
            <pc:docMk/>
            <pc:sldMk cId="435715574" sldId="263"/>
            <ac:spMk id="70" creationId="{18889B6D-CFD1-E8AF-1BA1-69D1FD4CAA38}"/>
          </ac:spMkLst>
        </pc:spChg>
        <pc:picChg chg="mod">
          <ac:chgData name="Berghout, Joanne (NIH/NIAID) [C]" userId="d15a409a-f0dc-40cf-9c9a-c9d1b560d691" providerId="ADAL" clId="{40EC691D-D2DF-5B2D-915A-C4E95DF248E3}" dt="2026-09-07T19:13:55.250" v="137" actId="1076"/>
          <ac:picMkLst>
            <pc:docMk/>
            <pc:sldMk cId="435715574" sldId="263"/>
            <ac:picMk id="17" creationId="{F90CF5C2-63FB-DAFC-460D-C2229E40D15E}"/>
          </ac:picMkLst>
        </pc:picChg>
        <pc:picChg chg="mod">
          <ac:chgData name="Berghout, Joanne (NIH/NIAID) [C]" userId="d15a409a-f0dc-40cf-9c9a-c9d1b560d691" providerId="ADAL" clId="{40EC691D-D2DF-5B2D-915A-C4E95DF248E3}" dt="2026-09-07T19:13:55.250" v="137" actId="1076"/>
          <ac:picMkLst>
            <pc:docMk/>
            <pc:sldMk cId="435715574" sldId="263"/>
            <ac:picMk id="19" creationId="{01B5370B-ACF2-1233-D74A-6782EDFE4929}"/>
          </ac:picMkLst>
        </pc:picChg>
        <pc:picChg chg="mod">
          <ac:chgData name="Berghout, Joanne (NIH/NIAID) [C]" userId="d15a409a-f0dc-40cf-9c9a-c9d1b560d691" providerId="ADAL" clId="{40EC691D-D2DF-5B2D-915A-C4E95DF248E3}" dt="2026-09-07T19:13:55.250" v="137" actId="1076"/>
          <ac:picMkLst>
            <pc:docMk/>
            <pc:sldMk cId="435715574" sldId="263"/>
            <ac:picMk id="21" creationId="{FB5060CD-7202-52F3-5276-2CD4300CC2B4}"/>
          </ac:picMkLst>
        </pc:picChg>
        <pc:picChg chg="mod">
          <ac:chgData name="Berghout, Joanne (NIH/NIAID) [C]" userId="d15a409a-f0dc-40cf-9c9a-c9d1b560d691" providerId="ADAL" clId="{40EC691D-D2DF-5B2D-915A-C4E95DF248E3}" dt="2026-09-07T19:13:55.250" v="137" actId="1076"/>
          <ac:picMkLst>
            <pc:docMk/>
            <pc:sldMk cId="435715574" sldId="263"/>
            <ac:picMk id="30" creationId="{406DAB73-C0AF-5DDC-C648-ED383D52EFD4}"/>
          </ac:picMkLst>
        </pc:picChg>
        <pc:picChg chg="mod">
          <ac:chgData name="Berghout, Joanne (NIH/NIAID) [C]" userId="d15a409a-f0dc-40cf-9c9a-c9d1b560d691" providerId="ADAL" clId="{40EC691D-D2DF-5B2D-915A-C4E95DF248E3}" dt="2026-09-07T19:13:55.250" v="137" actId="1076"/>
          <ac:picMkLst>
            <pc:docMk/>
            <pc:sldMk cId="435715574" sldId="263"/>
            <ac:picMk id="31" creationId="{185D0C35-EAC7-CFDF-2575-CE4ED9C043B1}"/>
          </ac:picMkLst>
        </pc:picChg>
      </pc:sldChg>
      <pc:sldChg chg="modSp mod modAnim">
        <pc:chgData name="Berghout, Joanne (NIH/NIAID) [C]" userId="d15a409a-f0dc-40cf-9c9a-c9d1b560d691" providerId="ADAL" clId="{40EC691D-D2DF-5B2D-915A-C4E95DF248E3}" dt="2026-09-07T19:18:28.897" v="184" actId="207"/>
        <pc:sldMkLst>
          <pc:docMk/>
          <pc:sldMk cId="2419279497" sldId="264"/>
        </pc:sldMkLst>
        <pc:spChg chg="mod">
          <ac:chgData name="Berghout, Joanne (NIH/NIAID) [C]" userId="d15a409a-f0dc-40cf-9c9a-c9d1b560d691" providerId="ADAL" clId="{40EC691D-D2DF-5B2D-915A-C4E95DF248E3}" dt="2026-09-07T19:16:41.224" v="159" actId="27636"/>
          <ac:spMkLst>
            <pc:docMk/>
            <pc:sldMk cId="2419279497" sldId="264"/>
            <ac:spMk id="2" creationId="{B4E7BFC6-2320-5975-D4D0-7DA3F8FBEBE6}"/>
          </ac:spMkLst>
        </pc:spChg>
        <pc:spChg chg="mod">
          <ac:chgData name="Berghout, Joanne (NIH/NIAID) [C]" userId="d15a409a-f0dc-40cf-9c9a-c9d1b560d691" providerId="ADAL" clId="{40EC691D-D2DF-5B2D-915A-C4E95DF248E3}" dt="2026-09-07T19:18:28.897" v="184" actId="207"/>
          <ac:spMkLst>
            <pc:docMk/>
            <pc:sldMk cId="2419279497" sldId="264"/>
            <ac:spMk id="3" creationId="{8D447861-E587-6E23-3B67-E4C42D1DE299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20:01:57.561" v="406" actId="14100"/>
        <pc:sldMkLst>
          <pc:docMk/>
          <pc:sldMk cId="3478252784" sldId="265"/>
        </pc:sldMkLst>
        <pc:spChg chg="mod">
          <ac:chgData name="Berghout, Joanne (NIH/NIAID) [C]" userId="d15a409a-f0dc-40cf-9c9a-c9d1b560d691" providerId="ADAL" clId="{40EC691D-D2DF-5B2D-915A-C4E95DF248E3}" dt="2026-09-07T19:27:42.456" v="250" actId="207"/>
          <ac:spMkLst>
            <pc:docMk/>
            <pc:sldMk cId="3478252784" sldId="265"/>
            <ac:spMk id="2" creationId="{016CD58B-AF34-B9EE-7DAA-336338C0CE04}"/>
          </ac:spMkLst>
        </pc:spChg>
        <pc:spChg chg="mod">
          <ac:chgData name="Berghout, Joanne (NIH/NIAID) [C]" userId="d15a409a-f0dc-40cf-9c9a-c9d1b560d691" providerId="ADAL" clId="{40EC691D-D2DF-5B2D-915A-C4E95DF248E3}" dt="2026-09-07T20:01:57.561" v="406" actId="14100"/>
          <ac:spMkLst>
            <pc:docMk/>
            <pc:sldMk cId="3478252784" sldId="265"/>
            <ac:spMk id="5" creationId="{802AE483-7D7C-13D0-48B8-B678B7711FFD}"/>
          </ac:spMkLst>
        </pc:spChg>
        <pc:spChg chg="mod">
          <ac:chgData name="Berghout, Joanne (NIH/NIAID) [C]" userId="d15a409a-f0dc-40cf-9c9a-c9d1b560d691" providerId="ADAL" clId="{40EC691D-D2DF-5B2D-915A-C4E95DF248E3}" dt="2026-09-07T19:59:38.322" v="401" actId="14100"/>
          <ac:spMkLst>
            <pc:docMk/>
            <pc:sldMk cId="3478252784" sldId="265"/>
            <ac:spMk id="6" creationId="{4BAE5FA8-069F-867F-9AE0-3E87B521C125}"/>
          </ac:spMkLst>
        </pc:spChg>
        <pc:spChg chg="mod">
          <ac:chgData name="Berghout, Joanne (NIH/NIAID) [C]" userId="d15a409a-f0dc-40cf-9c9a-c9d1b560d691" providerId="ADAL" clId="{40EC691D-D2DF-5B2D-915A-C4E95DF248E3}" dt="2026-09-07T19:59:46.159" v="403" actId="14100"/>
          <ac:spMkLst>
            <pc:docMk/>
            <pc:sldMk cId="3478252784" sldId="265"/>
            <ac:spMk id="7" creationId="{D5DC0CA1-0AA8-8EB7-1AE2-93E0DB20582D}"/>
          </ac:spMkLst>
        </pc:spChg>
        <pc:spChg chg="mod">
          <ac:chgData name="Berghout, Joanne (NIH/NIAID) [C]" userId="d15a409a-f0dc-40cf-9c9a-c9d1b560d691" providerId="ADAL" clId="{40EC691D-D2DF-5B2D-915A-C4E95DF248E3}" dt="2026-09-07T19:59:53.807" v="404" actId="14100"/>
          <ac:spMkLst>
            <pc:docMk/>
            <pc:sldMk cId="3478252784" sldId="265"/>
            <ac:spMk id="8" creationId="{9961B67F-4ACC-52B3-9DAC-865090EB2BCD}"/>
          </ac:spMkLst>
        </pc:spChg>
        <pc:graphicFrameChg chg="mod modGraphic">
          <ac:chgData name="Berghout, Joanne (NIH/NIAID) [C]" userId="d15a409a-f0dc-40cf-9c9a-c9d1b560d691" providerId="ADAL" clId="{40EC691D-D2DF-5B2D-915A-C4E95DF248E3}" dt="2026-09-07T19:27:49.742" v="251" actId="20577"/>
          <ac:graphicFrameMkLst>
            <pc:docMk/>
            <pc:sldMk cId="3478252784" sldId="265"/>
            <ac:graphicFrameMk id="4" creationId="{0D3901F2-78A6-C8A8-E2B9-ED43D8E62348}"/>
          </ac:graphicFrameMkLst>
        </pc:graphicFrameChg>
      </pc:sldChg>
      <pc:sldChg chg="del">
        <pc:chgData name="Berghout, Joanne (NIH/NIAID) [C]" userId="d15a409a-f0dc-40cf-9c9a-c9d1b560d691" providerId="ADAL" clId="{40EC691D-D2DF-5B2D-915A-C4E95DF248E3}" dt="2026-09-07T19:29:15.150" v="259" actId="2696"/>
        <pc:sldMkLst>
          <pc:docMk/>
          <pc:sldMk cId="947815761" sldId="266"/>
        </pc:sldMkLst>
      </pc:sldChg>
      <pc:sldChg chg="modSp mod">
        <pc:chgData name="Berghout, Joanne (NIH/NIAID) [C]" userId="d15a409a-f0dc-40cf-9c9a-c9d1b560d691" providerId="ADAL" clId="{40EC691D-D2DF-5B2D-915A-C4E95DF248E3}" dt="2026-09-07T20:05:07.470" v="431" actId="1076"/>
        <pc:sldMkLst>
          <pc:docMk/>
          <pc:sldMk cId="3891268498" sldId="267"/>
        </pc:sldMkLst>
        <pc:spChg chg="mod">
          <ac:chgData name="Berghout, Joanne (NIH/NIAID) [C]" userId="d15a409a-f0dc-40cf-9c9a-c9d1b560d691" providerId="ADAL" clId="{40EC691D-D2DF-5B2D-915A-C4E95DF248E3}" dt="2026-09-07T20:04:01.969" v="417" actId="20577"/>
          <ac:spMkLst>
            <pc:docMk/>
            <pc:sldMk cId="3891268498" sldId="267"/>
            <ac:spMk id="2" creationId="{F3C18C89-1467-39BD-63F3-9D2DC8D2C5FA}"/>
          </ac:spMkLst>
        </pc:spChg>
        <pc:spChg chg="mod">
          <ac:chgData name="Berghout, Joanne (NIH/NIAID) [C]" userId="d15a409a-f0dc-40cf-9c9a-c9d1b560d691" providerId="ADAL" clId="{40EC691D-D2DF-5B2D-915A-C4E95DF248E3}" dt="2026-09-07T20:05:04.354" v="430" actId="20577"/>
          <ac:spMkLst>
            <pc:docMk/>
            <pc:sldMk cId="3891268498" sldId="267"/>
            <ac:spMk id="3" creationId="{4BFC5025-0660-DFCF-4F0A-0FEAE8C42FC0}"/>
          </ac:spMkLst>
        </pc:spChg>
        <pc:picChg chg="mod">
          <ac:chgData name="Berghout, Joanne (NIH/NIAID) [C]" userId="d15a409a-f0dc-40cf-9c9a-c9d1b560d691" providerId="ADAL" clId="{40EC691D-D2DF-5B2D-915A-C4E95DF248E3}" dt="2026-09-07T20:05:07.470" v="431" actId="1076"/>
          <ac:picMkLst>
            <pc:docMk/>
            <pc:sldMk cId="3891268498" sldId="267"/>
            <ac:picMk id="5" creationId="{F7FB0B3F-9394-4BDE-13CD-842AA2C94BD9}"/>
          </ac:picMkLst>
        </pc:picChg>
      </pc:sldChg>
      <pc:sldChg chg="modSp mod">
        <pc:chgData name="Berghout, Joanne (NIH/NIAID) [C]" userId="d15a409a-f0dc-40cf-9c9a-c9d1b560d691" providerId="ADAL" clId="{40EC691D-D2DF-5B2D-915A-C4E95DF248E3}" dt="2026-09-07T20:02:36.263" v="407" actId="207"/>
        <pc:sldMkLst>
          <pc:docMk/>
          <pc:sldMk cId="3417271666" sldId="268"/>
        </pc:sldMkLst>
        <pc:spChg chg="mod">
          <ac:chgData name="Berghout, Joanne (NIH/NIAID) [C]" userId="d15a409a-f0dc-40cf-9c9a-c9d1b560d691" providerId="ADAL" clId="{40EC691D-D2DF-5B2D-915A-C4E95DF248E3}" dt="2026-09-07T20:02:36.263" v="407" actId="207"/>
          <ac:spMkLst>
            <pc:docMk/>
            <pc:sldMk cId="3417271666" sldId="268"/>
            <ac:spMk id="2" creationId="{AA8ABCB3-DE55-FEA8-5241-57151A4B47C4}"/>
          </ac:spMkLst>
        </pc:spChg>
        <pc:spChg chg="mod">
          <ac:chgData name="Berghout, Joanne (NIH/NIAID) [C]" userId="d15a409a-f0dc-40cf-9c9a-c9d1b560d691" providerId="ADAL" clId="{40EC691D-D2DF-5B2D-915A-C4E95DF248E3}" dt="2026-09-07T19:55:35.825" v="384" actId="14100"/>
          <ac:spMkLst>
            <pc:docMk/>
            <pc:sldMk cId="3417271666" sldId="268"/>
            <ac:spMk id="3" creationId="{D6AC00C6-D2C5-C4E7-D496-22939C9C6FA4}"/>
          </ac:spMkLst>
        </pc:spChg>
      </pc:sldChg>
      <pc:sldChg chg="addSp delSp modSp mod">
        <pc:chgData name="Berghout, Joanne (NIH/NIAID) [C]" userId="d15a409a-f0dc-40cf-9c9a-c9d1b560d691" providerId="ADAL" clId="{40EC691D-D2DF-5B2D-915A-C4E95DF248E3}" dt="2026-09-07T20:16:41.393" v="463"/>
        <pc:sldMkLst>
          <pc:docMk/>
          <pc:sldMk cId="2442360132" sldId="269"/>
        </pc:sldMkLst>
        <pc:spChg chg="mod">
          <ac:chgData name="Berghout, Joanne (NIH/NIAID) [C]" userId="d15a409a-f0dc-40cf-9c9a-c9d1b560d691" providerId="ADAL" clId="{40EC691D-D2DF-5B2D-915A-C4E95DF248E3}" dt="2026-09-07T20:06:48.590" v="434" actId="207"/>
          <ac:spMkLst>
            <pc:docMk/>
            <pc:sldMk cId="2442360132" sldId="269"/>
            <ac:spMk id="2" creationId="{D3106E29-AE61-988E-6855-00D42A9281BC}"/>
          </ac:spMkLst>
        </pc:spChg>
        <pc:spChg chg="mod">
          <ac:chgData name="Berghout, Joanne (NIH/NIAID) [C]" userId="d15a409a-f0dc-40cf-9c9a-c9d1b560d691" providerId="ADAL" clId="{40EC691D-D2DF-5B2D-915A-C4E95DF248E3}" dt="2026-09-07T20:16:32.725" v="462"/>
          <ac:spMkLst>
            <pc:docMk/>
            <pc:sldMk cId="2442360132" sldId="269"/>
            <ac:spMk id="23" creationId="{95F9CCD3-563E-3098-3779-4E6130EC143B}"/>
          </ac:spMkLst>
        </pc:spChg>
        <pc:spChg chg="mod">
          <ac:chgData name="Berghout, Joanne (NIH/NIAID) [C]" userId="d15a409a-f0dc-40cf-9c9a-c9d1b560d691" providerId="ADAL" clId="{40EC691D-D2DF-5B2D-915A-C4E95DF248E3}" dt="2026-09-07T20:16:20.128" v="459" actId="1076"/>
          <ac:spMkLst>
            <pc:docMk/>
            <pc:sldMk cId="2442360132" sldId="269"/>
            <ac:spMk id="44" creationId="{125CD489-81CA-0FD8-C701-84D58FBABDC7}"/>
          </ac:spMkLst>
        </pc:spChg>
        <pc:spChg chg="mod">
          <ac:chgData name="Berghout, Joanne (NIH/NIAID) [C]" userId="d15a409a-f0dc-40cf-9c9a-c9d1b560d691" providerId="ADAL" clId="{40EC691D-D2DF-5B2D-915A-C4E95DF248E3}" dt="2026-09-07T20:16:02.996" v="455" actId="1076"/>
          <ac:spMkLst>
            <pc:docMk/>
            <pc:sldMk cId="2442360132" sldId="269"/>
            <ac:spMk id="45" creationId="{CBE319DF-20F6-84D2-84BE-712DF6AD1D03}"/>
          </ac:spMkLst>
        </pc:spChg>
        <pc:spChg chg="mod">
          <ac:chgData name="Berghout, Joanne (NIH/NIAID) [C]" userId="d15a409a-f0dc-40cf-9c9a-c9d1b560d691" providerId="ADAL" clId="{40EC691D-D2DF-5B2D-915A-C4E95DF248E3}" dt="2026-09-07T20:15:08.681" v="451" actId="14100"/>
          <ac:spMkLst>
            <pc:docMk/>
            <pc:sldMk cId="2442360132" sldId="269"/>
            <ac:spMk id="47" creationId="{BAF76899-F1DA-1A48-8275-980C62B1CEC1}"/>
          </ac:spMkLst>
        </pc:spChg>
        <pc:spChg chg="mod">
          <ac:chgData name="Berghout, Joanne (NIH/NIAID) [C]" userId="d15a409a-f0dc-40cf-9c9a-c9d1b560d691" providerId="ADAL" clId="{40EC691D-D2DF-5B2D-915A-C4E95DF248E3}" dt="2026-09-07T20:08:29.812" v="441" actId="20577"/>
          <ac:spMkLst>
            <pc:docMk/>
            <pc:sldMk cId="2442360132" sldId="269"/>
            <ac:spMk id="56" creationId="{D4461766-B4ED-8B68-1310-63DF28B8D971}"/>
          </ac:spMkLst>
        </pc:spChg>
        <pc:spChg chg="mod">
          <ac:chgData name="Berghout, Joanne (NIH/NIAID) [C]" userId="d15a409a-f0dc-40cf-9c9a-c9d1b560d691" providerId="ADAL" clId="{40EC691D-D2DF-5B2D-915A-C4E95DF248E3}" dt="2026-09-07T20:14:55.282" v="446" actId="14100"/>
          <ac:spMkLst>
            <pc:docMk/>
            <pc:sldMk cId="2442360132" sldId="269"/>
            <ac:spMk id="71" creationId="{6E17C6B5-FDC7-3774-28C1-0D93812DE643}"/>
          </ac:spMkLst>
        </pc:spChg>
        <pc:spChg chg="mod">
          <ac:chgData name="Berghout, Joanne (NIH/NIAID) [C]" userId="d15a409a-f0dc-40cf-9c9a-c9d1b560d691" providerId="ADAL" clId="{40EC691D-D2DF-5B2D-915A-C4E95DF248E3}" dt="2026-09-07T20:16:41.393" v="463"/>
          <ac:spMkLst>
            <pc:docMk/>
            <pc:sldMk cId="2442360132" sldId="269"/>
            <ac:spMk id="81" creationId="{E2554FD3-17C5-987E-BA6A-EFE1DF2996B4}"/>
          </ac:spMkLst>
        </pc:spChg>
        <pc:spChg chg="mod">
          <ac:chgData name="Berghout, Joanne (NIH/NIAID) [C]" userId="d15a409a-f0dc-40cf-9c9a-c9d1b560d691" providerId="ADAL" clId="{40EC691D-D2DF-5B2D-915A-C4E95DF248E3}" dt="2026-09-07T20:07:47.174" v="437"/>
          <ac:spMkLst>
            <pc:docMk/>
            <pc:sldMk cId="2442360132" sldId="269"/>
            <ac:spMk id="91" creationId="{5B6FF680-2C62-783A-D040-E8BF203FD164}"/>
          </ac:spMkLst>
        </pc:spChg>
        <pc:spChg chg="add del mod">
          <ac:chgData name="Berghout, Joanne (NIH/NIAID) [C]" userId="d15a409a-f0dc-40cf-9c9a-c9d1b560d691" providerId="ADAL" clId="{40EC691D-D2DF-5B2D-915A-C4E95DF248E3}" dt="2026-09-07T20:16:31.073" v="461" actId="478"/>
          <ac:spMkLst>
            <pc:docMk/>
            <pc:sldMk cId="2442360132" sldId="269"/>
            <ac:spMk id="95" creationId="{F0C68525-C9FD-F603-81CE-268266DC3B99}"/>
          </ac:spMkLst>
        </pc:spChg>
      </pc:sldChg>
      <pc:sldChg chg="addSp modSp mod">
        <pc:chgData name="Berghout, Joanne (NIH/NIAID) [C]" userId="d15a409a-f0dc-40cf-9c9a-c9d1b560d691" providerId="ADAL" clId="{40EC691D-D2DF-5B2D-915A-C4E95DF248E3}" dt="2026-09-07T19:47:02.835" v="312" actId="14100"/>
        <pc:sldMkLst>
          <pc:docMk/>
          <pc:sldMk cId="1887903084" sldId="270"/>
        </pc:sldMkLst>
        <pc:spChg chg="mod">
          <ac:chgData name="Berghout, Joanne (NIH/NIAID) [C]" userId="d15a409a-f0dc-40cf-9c9a-c9d1b560d691" providerId="ADAL" clId="{40EC691D-D2DF-5B2D-915A-C4E95DF248E3}" dt="2026-09-07T19:32:14.120" v="288"/>
          <ac:spMkLst>
            <pc:docMk/>
            <pc:sldMk cId="1887903084" sldId="270"/>
            <ac:spMk id="2" creationId="{086DEB08-54FD-EE0F-3773-61909D370048}"/>
          </ac:spMkLst>
        </pc:spChg>
        <pc:spChg chg="mod">
          <ac:chgData name="Berghout, Joanne (NIH/NIAID) [C]" userId="d15a409a-f0dc-40cf-9c9a-c9d1b560d691" providerId="ADAL" clId="{40EC691D-D2DF-5B2D-915A-C4E95DF248E3}" dt="2026-09-07T19:33:05.527" v="294"/>
          <ac:spMkLst>
            <pc:docMk/>
            <pc:sldMk cId="1887903084" sldId="270"/>
            <ac:spMk id="3" creationId="{FAD74633-2EAA-793C-3082-B356F231AA6B}"/>
          </ac:spMkLst>
        </pc:spChg>
        <pc:spChg chg="mod">
          <ac:chgData name="Berghout, Joanne (NIH/NIAID) [C]" userId="d15a409a-f0dc-40cf-9c9a-c9d1b560d691" providerId="ADAL" clId="{40EC691D-D2DF-5B2D-915A-C4E95DF248E3}" dt="2026-09-07T19:33:28.213" v="297" actId="113"/>
          <ac:spMkLst>
            <pc:docMk/>
            <pc:sldMk cId="1887903084" sldId="270"/>
            <ac:spMk id="6" creationId="{5E52867F-FC21-9080-7C15-03D32E107789}"/>
          </ac:spMkLst>
        </pc:spChg>
        <pc:spChg chg="mod">
          <ac:chgData name="Berghout, Joanne (NIH/NIAID) [C]" userId="d15a409a-f0dc-40cf-9c9a-c9d1b560d691" providerId="ADAL" clId="{40EC691D-D2DF-5B2D-915A-C4E95DF248E3}" dt="2026-09-07T19:47:02.835" v="312" actId="14100"/>
          <ac:spMkLst>
            <pc:docMk/>
            <pc:sldMk cId="1887903084" sldId="270"/>
            <ac:spMk id="9" creationId="{E3844253-DEE4-E8D4-AC9A-78BD50DF0164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2" creationId="{8C023170-8D1D-7A27-05B9-9B9410126D7D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3" creationId="{13C6F183-40B0-086B-7E9D-9BC4C0256F43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4" creationId="{3CD96B75-7F00-51E4-5F56-4BE707BF09DE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5" creationId="{AD3CD92F-5767-81B8-1657-D84F86F26889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6" creationId="{34F1BEF9-016F-2D6B-8C91-45B3FAD09A8B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7" creationId="{AC64F820-FD8F-D9C8-4D33-E38E0A1D5DE2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8" creationId="{760CA132-8BCC-D9FF-3157-85A48444FEE0}"/>
          </ac:spMkLst>
        </pc:spChg>
        <pc:spChg chg="add mod">
          <ac:chgData name="Berghout, Joanne (NIH/NIAID) [C]" userId="d15a409a-f0dc-40cf-9c9a-c9d1b560d691" providerId="ADAL" clId="{40EC691D-D2DF-5B2D-915A-C4E95DF248E3}" dt="2026-09-07T19:46:00.392" v="298"/>
          <ac:spMkLst>
            <pc:docMk/>
            <pc:sldMk cId="1887903084" sldId="270"/>
            <ac:spMk id="19" creationId="{923AE47E-8716-BF18-B63B-E09FD9B2B887}"/>
          </ac:spMkLst>
        </pc:spChg>
        <pc:picChg chg="add mod">
          <ac:chgData name="Berghout, Joanne (NIH/NIAID) [C]" userId="d15a409a-f0dc-40cf-9c9a-c9d1b560d691" providerId="ADAL" clId="{40EC691D-D2DF-5B2D-915A-C4E95DF248E3}" dt="2026-09-07T19:46:00.392" v="298"/>
          <ac:picMkLst>
            <pc:docMk/>
            <pc:sldMk cId="1887903084" sldId="270"/>
            <ac:picMk id="10" creationId="{6B77B969-B1DB-CC5C-8FE3-26E876DB5076}"/>
          </ac:picMkLst>
        </pc:picChg>
        <pc:picChg chg="add mod">
          <ac:chgData name="Berghout, Joanne (NIH/NIAID) [C]" userId="d15a409a-f0dc-40cf-9c9a-c9d1b560d691" providerId="ADAL" clId="{40EC691D-D2DF-5B2D-915A-C4E95DF248E3}" dt="2026-09-07T19:46:00.392" v="298"/>
          <ac:picMkLst>
            <pc:docMk/>
            <pc:sldMk cId="1887903084" sldId="270"/>
            <ac:picMk id="11" creationId="{765DDE32-CF45-6A69-132C-6F20969A365B}"/>
          </ac:picMkLst>
        </pc:picChg>
      </pc:sldChg>
      <pc:sldChg chg="modSp mod">
        <pc:chgData name="Berghout, Joanne (NIH/NIAID) [C]" userId="d15a409a-f0dc-40cf-9c9a-c9d1b560d691" providerId="ADAL" clId="{40EC691D-D2DF-5B2D-915A-C4E95DF248E3}" dt="2026-09-07T20:19:03.245" v="473" actId="255"/>
        <pc:sldMkLst>
          <pc:docMk/>
          <pc:sldMk cId="1125633029" sldId="271"/>
        </pc:sldMkLst>
        <pc:spChg chg="mod">
          <ac:chgData name="Berghout, Joanne (NIH/NIAID) [C]" userId="d15a409a-f0dc-40cf-9c9a-c9d1b560d691" providerId="ADAL" clId="{40EC691D-D2DF-5B2D-915A-C4E95DF248E3}" dt="2026-09-07T20:17:26.184" v="466" actId="207"/>
          <ac:spMkLst>
            <pc:docMk/>
            <pc:sldMk cId="1125633029" sldId="271"/>
            <ac:spMk id="2" creationId="{C9B80D66-11D6-7C73-2EF8-829FDB1771EB}"/>
          </ac:spMkLst>
        </pc:spChg>
        <pc:spChg chg="mod">
          <ac:chgData name="Berghout, Joanne (NIH/NIAID) [C]" userId="d15a409a-f0dc-40cf-9c9a-c9d1b560d691" providerId="ADAL" clId="{40EC691D-D2DF-5B2D-915A-C4E95DF248E3}" dt="2026-09-07T20:19:03.245" v="473" actId="255"/>
          <ac:spMkLst>
            <pc:docMk/>
            <pc:sldMk cId="1125633029" sldId="271"/>
            <ac:spMk id="3" creationId="{7CB60586-3EE6-19B1-F9A1-64413D29EB36}"/>
          </ac:spMkLst>
        </pc:spChg>
      </pc:sldChg>
      <pc:sldChg chg="addSp delSp modSp mod">
        <pc:chgData name="Berghout, Joanne (NIH/NIAID) [C]" userId="d15a409a-f0dc-40cf-9c9a-c9d1b560d691" providerId="ADAL" clId="{40EC691D-D2DF-5B2D-915A-C4E95DF248E3}" dt="2026-09-07T20:33:13.410" v="494" actId="478"/>
        <pc:sldMkLst>
          <pc:docMk/>
          <pc:sldMk cId="535618836" sldId="272"/>
        </pc:sldMkLst>
        <pc:spChg chg="mod">
          <ac:chgData name="Berghout, Joanne (NIH/NIAID) [C]" userId="d15a409a-f0dc-40cf-9c9a-c9d1b560d691" providerId="ADAL" clId="{40EC691D-D2DF-5B2D-915A-C4E95DF248E3}" dt="2026-09-07T20:29:53.023" v="488"/>
          <ac:spMkLst>
            <pc:docMk/>
            <pc:sldMk cId="535618836" sldId="272"/>
            <ac:spMk id="2" creationId="{7E087474-6DDB-1CF0-28EC-7EB840ABE6B2}"/>
          </ac:spMkLst>
        </pc:spChg>
        <pc:spChg chg="del">
          <ac:chgData name="Berghout, Joanne (NIH/NIAID) [C]" userId="d15a409a-f0dc-40cf-9c9a-c9d1b560d691" providerId="ADAL" clId="{40EC691D-D2DF-5B2D-915A-C4E95DF248E3}" dt="2026-09-07T20:33:07.055" v="492" actId="478"/>
          <ac:spMkLst>
            <pc:docMk/>
            <pc:sldMk cId="535618836" sldId="272"/>
            <ac:spMk id="3" creationId="{B5C80210-6DD1-8591-600B-FDEA285A5E07}"/>
          </ac:spMkLst>
        </pc:spChg>
        <pc:spChg chg="add del mod">
          <ac:chgData name="Berghout, Joanne (NIH/NIAID) [C]" userId="d15a409a-f0dc-40cf-9c9a-c9d1b560d691" providerId="ADAL" clId="{40EC691D-D2DF-5B2D-915A-C4E95DF248E3}" dt="2026-09-07T20:33:13.410" v="494" actId="478"/>
          <ac:spMkLst>
            <pc:docMk/>
            <pc:sldMk cId="535618836" sldId="272"/>
            <ac:spMk id="5" creationId="{12696477-7C3B-0082-01C8-D4F268DC1E88}"/>
          </ac:spMkLst>
        </pc:spChg>
        <pc:spChg chg="add mod">
          <ac:chgData name="Berghout, Joanne (NIH/NIAID) [C]" userId="d15a409a-f0dc-40cf-9c9a-c9d1b560d691" providerId="ADAL" clId="{40EC691D-D2DF-5B2D-915A-C4E95DF248E3}" dt="2026-09-07T20:33:07.546" v="493"/>
          <ac:spMkLst>
            <pc:docMk/>
            <pc:sldMk cId="535618836" sldId="272"/>
            <ac:spMk id="6" creationId="{99431031-DBC3-7200-D3E0-577EE132EA96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20:32:01.287" v="490" actId="5793"/>
        <pc:sldMkLst>
          <pc:docMk/>
          <pc:sldMk cId="1357411801" sldId="273"/>
        </pc:sldMkLst>
        <pc:spChg chg="mod">
          <ac:chgData name="Berghout, Joanne (NIH/NIAID) [C]" userId="d15a409a-f0dc-40cf-9c9a-c9d1b560d691" providerId="ADAL" clId="{40EC691D-D2DF-5B2D-915A-C4E95DF248E3}" dt="2026-09-07T20:32:01.287" v="490" actId="5793"/>
          <ac:spMkLst>
            <pc:docMk/>
            <pc:sldMk cId="1357411801" sldId="273"/>
            <ac:spMk id="3" creationId="{1BCF793E-C3AF-7DBD-2915-C3D351EDB9C7}"/>
          </ac:spMkLst>
        </pc:spChg>
        <pc:spChg chg="mod">
          <ac:chgData name="Berghout, Joanne (NIH/NIAID) [C]" userId="d15a409a-f0dc-40cf-9c9a-c9d1b560d691" providerId="ADAL" clId="{40EC691D-D2DF-5B2D-915A-C4E95DF248E3}" dt="2026-09-07T20:19:21.301" v="475" actId="207"/>
          <ac:spMkLst>
            <pc:docMk/>
            <pc:sldMk cId="1357411801" sldId="273"/>
            <ac:spMk id="4" creationId="{D6C9E40D-2AED-D5EC-889F-3C739E00C212}"/>
          </ac:spMkLst>
        </pc:spChg>
      </pc:sldChg>
      <pc:sldChg chg="addSp delSp modSp mod">
        <pc:chgData name="Berghout, Joanne (NIH/NIAID) [C]" userId="d15a409a-f0dc-40cf-9c9a-c9d1b560d691" providerId="ADAL" clId="{40EC691D-D2DF-5B2D-915A-C4E95DF248E3}" dt="2026-09-07T20:34:49.694" v="500" actId="478"/>
        <pc:sldMkLst>
          <pc:docMk/>
          <pc:sldMk cId="2722601250" sldId="274"/>
        </pc:sldMkLst>
        <pc:spChg chg="del">
          <ac:chgData name="Berghout, Joanne (NIH/NIAID) [C]" userId="d15a409a-f0dc-40cf-9c9a-c9d1b560d691" providerId="ADAL" clId="{40EC691D-D2DF-5B2D-915A-C4E95DF248E3}" dt="2026-09-07T20:34:43.166" v="497" actId="478"/>
          <ac:spMkLst>
            <pc:docMk/>
            <pc:sldMk cId="2722601250" sldId="274"/>
            <ac:spMk id="2" creationId="{8EFDB5D4-6CF6-06FD-A4B7-7F6D8FBEE133}"/>
          </ac:spMkLst>
        </pc:spChg>
        <pc:spChg chg="mod">
          <ac:chgData name="Berghout, Joanne (NIH/NIAID) [C]" userId="d15a409a-f0dc-40cf-9c9a-c9d1b560d691" providerId="ADAL" clId="{40EC691D-D2DF-5B2D-915A-C4E95DF248E3}" dt="2026-09-07T20:29:18.359" v="487" actId="27636"/>
          <ac:spMkLst>
            <pc:docMk/>
            <pc:sldMk cId="2722601250" sldId="274"/>
            <ac:spMk id="3" creationId="{0489ED1B-953C-1D90-D002-51ED3A1683C6}"/>
          </ac:spMkLst>
        </pc:spChg>
        <pc:spChg chg="add del mod">
          <ac:chgData name="Berghout, Joanne (NIH/NIAID) [C]" userId="d15a409a-f0dc-40cf-9c9a-c9d1b560d691" providerId="ADAL" clId="{40EC691D-D2DF-5B2D-915A-C4E95DF248E3}" dt="2026-09-07T20:34:49.694" v="500" actId="478"/>
          <ac:spMkLst>
            <pc:docMk/>
            <pc:sldMk cId="2722601250" sldId="274"/>
            <ac:spMk id="9" creationId="{B208AE31-B6BB-0B63-9332-EFE3A37081C9}"/>
          </ac:spMkLst>
        </pc:spChg>
        <pc:spChg chg="add mod">
          <ac:chgData name="Berghout, Joanne (NIH/NIAID) [C]" userId="d15a409a-f0dc-40cf-9c9a-c9d1b560d691" providerId="ADAL" clId="{40EC691D-D2DF-5B2D-915A-C4E95DF248E3}" dt="2026-09-07T20:34:43.584" v="498"/>
          <ac:spMkLst>
            <pc:docMk/>
            <pc:sldMk cId="2722601250" sldId="274"/>
            <ac:spMk id="10" creationId="{F2C48D44-1430-15F8-28C5-A35707D78F58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20:36:55.236" v="509" actId="12"/>
        <pc:sldMkLst>
          <pc:docMk/>
          <pc:sldMk cId="1566124605" sldId="275"/>
        </pc:sldMkLst>
        <pc:spChg chg="mod">
          <ac:chgData name="Berghout, Joanne (NIH/NIAID) [C]" userId="d15a409a-f0dc-40cf-9c9a-c9d1b560d691" providerId="ADAL" clId="{40EC691D-D2DF-5B2D-915A-C4E95DF248E3}" dt="2026-09-07T20:36:30.968" v="503" actId="207"/>
          <ac:spMkLst>
            <pc:docMk/>
            <pc:sldMk cId="1566124605" sldId="275"/>
            <ac:spMk id="2" creationId="{DFB46B70-350D-565A-1281-63031149329F}"/>
          </ac:spMkLst>
        </pc:spChg>
        <pc:spChg chg="mod">
          <ac:chgData name="Berghout, Joanne (NIH/NIAID) [C]" userId="d15a409a-f0dc-40cf-9c9a-c9d1b560d691" providerId="ADAL" clId="{40EC691D-D2DF-5B2D-915A-C4E95DF248E3}" dt="2026-09-07T20:36:55.236" v="509" actId="12"/>
          <ac:spMkLst>
            <pc:docMk/>
            <pc:sldMk cId="1566124605" sldId="275"/>
            <ac:spMk id="3" creationId="{73BE7006-89ED-92ED-B726-B5E68D039D7B}"/>
          </ac:spMkLst>
        </pc:spChg>
      </pc:sldChg>
      <pc:sldChg chg="del">
        <pc:chgData name="Berghout, Joanne (NIH/NIAID) [C]" userId="d15a409a-f0dc-40cf-9c9a-c9d1b560d691" providerId="ADAL" clId="{40EC691D-D2DF-5B2D-915A-C4E95DF248E3}" dt="2026-09-07T20:35:47.171" v="501" actId="2696"/>
        <pc:sldMkLst>
          <pc:docMk/>
          <pc:sldMk cId="1703254046" sldId="276"/>
        </pc:sldMkLst>
      </pc:sldChg>
      <pc:sldChg chg="modSp mod">
        <pc:chgData name="Berghout, Joanne (NIH/NIAID) [C]" userId="d15a409a-f0dc-40cf-9c9a-c9d1b560d691" providerId="ADAL" clId="{40EC691D-D2DF-5B2D-915A-C4E95DF248E3}" dt="2026-09-07T20:38:45.441" v="540" actId="1076"/>
        <pc:sldMkLst>
          <pc:docMk/>
          <pc:sldMk cId="206384052" sldId="277"/>
        </pc:sldMkLst>
        <pc:spChg chg="mod">
          <ac:chgData name="Berghout, Joanne (NIH/NIAID) [C]" userId="d15a409a-f0dc-40cf-9c9a-c9d1b560d691" providerId="ADAL" clId="{40EC691D-D2DF-5B2D-915A-C4E95DF248E3}" dt="2026-09-07T20:38:45.441" v="540" actId="1076"/>
          <ac:spMkLst>
            <pc:docMk/>
            <pc:sldMk cId="206384052" sldId="277"/>
            <ac:spMk id="3" creationId="{8247032F-4E51-993B-9E71-E2E962E09734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20:05:35.240" v="432" actId="20577"/>
        <pc:sldMkLst>
          <pc:docMk/>
          <pc:sldMk cId="3364446149" sldId="278"/>
        </pc:sldMkLst>
        <pc:spChg chg="mod">
          <ac:chgData name="Berghout, Joanne (NIH/NIAID) [C]" userId="d15a409a-f0dc-40cf-9c9a-c9d1b560d691" providerId="ADAL" clId="{40EC691D-D2DF-5B2D-915A-C4E95DF248E3}" dt="2026-09-07T20:05:35.240" v="432" actId="20577"/>
          <ac:spMkLst>
            <pc:docMk/>
            <pc:sldMk cId="3364446149" sldId="278"/>
            <ac:spMk id="2" creationId="{013D4530-FF7A-89BA-DC9C-9E24E3F16872}"/>
          </ac:spMkLst>
        </pc:spChg>
      </pc:sldChg>
      <pc:sldChg chg="modSp mod">
        <pc:chgData name="Berghout, Joanne (NIH/NIAID) [C]" userId="d15a409a-f0dc-40cf-9c9a-c9d1b560d691" providerId="ADAL" clId="{40EC691D-D2DF-5B2D-915A-C4E95DF248E3}" dt="2026-09-07T20:02:39.199" v="408" actId="207"/>
        <pc:sldMkLst>
          <pc:docMk/>
          <pc:sldMk cId="4216349886" sldId="279"/>
        </pc:sldMkLst>
        <pc:spChg chg="mod">
          <ac:chgData name="Berghout, Joanne (NIH/NIAID) [C]" userId="d15a409a-f0dc-40cf-9c9a-c9d1b560d691" providerId="ADAL" clId="{40EC691D-D2DF-5B2D-915A-C4E95DF248E3}" dt="2026-09-07T20:02:39.199" v="408" actId="207"/>
          <ac:spMkLst>
            <pc:docMk/>
            <pc:sldMk cId="4216349886" sldId="279"/>
            <ac:spMk id="2" creationId="{A136B71A-B1AF-CB09-CDE0-7127CCAEC806}"/>
          </ac:spMkLst>
        </pc:spChg>
      </pc:sldChg>
      <pc:sldChg chg="add ord modAnim">
        <pc:chgData name="Berghout, Joanne (NIH/NIAID) [C]" userId="d15a409a-f0dc-40cf-9c9a-c9d1b560d691" providerId="ADAL" clId="{40EC691D-D2DF-5B2D-915A-C4E95DF248E3}" dt="2026-09-07T19:29:06.094" v="258"/>
        <pc:sldMkLst>
          <pc:docMk/>
          <pc:sldMk cId="496405308" sldId="280"/>
        </pc:sldMkLst>
      </pc:sldChg>
      <pc:sldChg chg="add modAnim">
        <pc:chgData name="Berghout, Joanne (NIH/NIAID) [C]" userId="d15a409a-f0dc-40cf-9c9a-c9d1b560d691" providerId="ADAL" clId="{40EC691D-D2DF-5B2D-915A-C4E95DF248E3}" dt="2026-09-07T20:47:44.518" v="564"/>
        <pc:sldMkLst>
          <pc:docMk/>
          <pc:sldMk cId="1930511237" sldId="281"/>
        </pc:sldMkLst>
      </pc:sldChg>
      <pc:sldChg chg="new del">
        <pc:chgData name="Berghout, Joanne (NIH/NIAID) [C]" userId="d15a409a-f0dc-40cf-9c9a-c9d1b560d691" providerId="ADAL" clId="{40EC691D-D2DF-5B2D-915A-C4E95DF248E3}" dt="2026-09-07T20:34:16.062" v="495" actId="2696"/>
        <pc:sldMkLst>
          <pc:docMk/>
          <pc:sldMk cId="4112409558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E8DE2-6378-B645-8899-B6D3749863E7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795E2-4432-7A4A-9C25-A85881826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2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795E2-4432-7A4A-9C25-A85881826D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70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795E2-4432-7A4A-9C25-A85881826D8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94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408D-CBCC-C432-21A8-816AC1498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20FBF-3008-8B28-ADB4-113489F66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538FF-CA9D-234E-00C7-883DA3A8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B6B68-A43C-2964-343F-43296EEF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F657-BB0C-48A1-5A85-3D370A528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5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355A-043C-CAC2-9EB5-3CC1BDC4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A9649-EE50-1ED3-DD43-0C3109F0D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38B89-AE7F-4520-0C90-45E60BBE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7521A-8EA1-5C8D-2C51-4CB418C7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725FE-C23C-17DB-DE2D-259E8810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2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4841-C8A1-5118-C385-1AF930E1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0D9BB-5A28-DCF6-755D-27ADDCCB8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47593-D260-7579-5F02-13D66241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ECD9D-3D45-4315-7D8B-1A817647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00BC1-E52F-8AEC-FCD4-79DEF250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65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F027-DBEA-DC12-4F6D-C8CCB959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305E8-8669-94AA-C96E-539FCFD44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8EFF0-6564-9170-CFBE-E01714D42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5024C-27EE-7226-57E5-27532F8C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74785-435D-B121-AABD-CCC3636C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EA679-040E-F3F8-C24E-1ABCE5D3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2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F3DE-43A9-E183-60F4-AC380C835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349B2-AC5C-31A5-3FC8-4D73C9173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BF4D7-2A42-B549-B9F2-7521FEC1F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B9C025-247A-4102-729B-6AA9BDE1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ED768-1047-5CF5-51E8-455368B23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EACCFC-985C-7CA8-0FF9-CDB8AFE9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39C53-1328-7121-73BC-120930C1A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328CAF-380D-B145-72D2-CF6C8667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1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4D10-2BE5-D0B2-F751-49A91AF5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FE7A1-C329-507F-DA3C-8BCBF6AD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E6653-9C8F-8E0A-F6D7-11EFEA84D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B3AF7-42A9-182A-1491-90AAC1AD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0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3121E-BC21-FDC1-9D21-221361D0B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1880D-E0A7-6298-3208-F9083DF4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C2F6-AF59-6AC3-02D8-DD880CE1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4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A6D7-69DE-8269-7B13-326B5E34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B11B5-7F4C-6CEC-4F0E-D21B5C266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6B9B2-5290-04CC-AD05-8D534DDB5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D437E-A720-6A2D-3D0F-53870F85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BAFD7-6252-0A90-73F0-05135CA8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ADB73-4AB3-B779-DAFA-C8059C20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4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CA32-DE98-0020-A33E-DAB770C7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72FFE-9800-0962-D094-CF6B29420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7C0CD-6825-B162-F8B8-14044433E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D7C8D-0501-8CF3-7B4E-A1348776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CDD72-F127-9541-9FC5-F8431F0F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DF5E4-A078-70A5-17D8-8F53AC5A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5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E59B-8F74-F115-9975-3EB769ED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315BB-4BE8-3F52-EBF7-7E0EDEE7A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91A59-D09A-268E-608A-C3C24C318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D4355-86EE-8DE4-5D67-07DEE825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BB28-9A50-E61A-160C-067F14FF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3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9922F-EAED-1E32-C91F-3B645AADE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26136-1ED8-F9C7-4488-5F78715D4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7A29-0500-023D-2B2D-5700D302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FA55F-C0FD-D4CD-68D1-6CB79484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81B3F-7E33-7B8B-050A-B67C1742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1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DC627-DD35-74BF-20EB-DCCEF44B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C86FB-C50A-B333-1F32-D498D53E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0F8A7-45C9-D51E-FFB5-C611305CF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6893D-D945-534C-9947-F788B4DB88FD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39E6A-C3CE-211E-FA43-6CA479DED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FF77-C15D-53C7-A033-D75C94D4C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63F2C-D8A2-0F46-A25E-480955339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9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5473734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3415556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5473734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nomad.broadinstitute.org/" TargetMode="External"/><Relationship Id="rId2" Type="http://schemas.openxmlformats.org/officeDocument/2006/relationships/hyperlink" Target="https://www.ncbi.nlm.nih.gov/clinva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browser.researchallofus.org/snvsindels/" TargetMode="External"/><Relationship Id="rId4" Type="http://schemas.openxmlformats.org/officeDocument/2006/relationships/hyperlink" Target="https://gnomad.broadinstitute.org/news/2024-06-genie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nomad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hyperlink" Target="https://pubmed.ncbi.nlm.nih.gov/30661751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s://www.science.org/doi/10.1126/science.adg7492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5473734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C6FE-CA9F-A806-6C49-1B6C262B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5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1"/>
                </a:solidFill>
              </a:rPr>
              <a:t>Atelier ACE : Génétique des maladies rares et tests de charge génétique.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9204C-430B-6C98-1795-80445E9C7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883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Presented by: Joanne Berghout, PhD</a:t>
            </a:r>
          </a:p>
          <a:p>
            <a:r>
              <a:rPr lang="en-US"/>
              <a:t>Spécialiste en génomique computationnelle humaine, Division de bio-informatique et de biologie computationnelle, </a:t>
            </a:r>
            <a:r>
              <a:rPr lang="en-US" dirty="0"/>
              <a:t>National Institute of Allergy and Infectious Disease (NIAID), National Institutes of Health (NIH), Bethesda, MD, USA</a:t>
            </a:r>
          </a:p>
        </p:txBody>
      </p:sp>
    </p:spTree>
    <p:extLst>
      <p:ext uri="{BB962C8B-B14F-4D97-AF65-F5344CB8AC3E}">
        <p14:creationId xmlns:p14="http://schemas.microsoft.com/office/powerpoint/2010/main" val="40548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9A88-DE3C-5378-7E5B-FA2C2888E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Variation génétique et maladie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71F10-62DA-DA11-0D10-8992BC1C5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/>
              <a:t>Chaque génome humain compte environ 6 milliards de nucleotides</a:t>
            </a:r>
          </a:p>
          <a:p>
            <a:pPr lvl="0"/>
            <a:r>
              <a:rPr lang="en-US" sz="2400"/>
              <a:t>Les génomes humains sont identiques à 99,6 % entre eux ; cependant:</a:t>
            </a:r>
            <a:endParaRPr lang="en-US" sz="2400" dirty="0"/>
          </a:p>
          <a:p>
            <a:pPr lvl="1"/>
            <a:r>
              <a:rPr lang="en-US" sz="2000"/>
              <a:t>chaque personne porte environ 5 millions de VNS (variants nucléotidiques simples), ainsi que d'autres types de variation (insertions et délétions, répétitions en tandem, variation structurale)</a:t>
            </a:r>
          </a:p>
          <a:p>
            <a:r>
              <a:rPr lang="en-US" sz="2400"/>
              <a:t>La grande majorité de cette variation est neutre sur le plan phénotypique et clinique – elle n'a aucun effet</a:t>
            </a:r>
          </a:p>
          <a:p>
            <a:r>
              <a:rPr lang="en-US" sz="2400"/>
              <a:t>Une autre grande partie est commune et a un effet très faible sur les traits de santé humaine</a:t>
            </a:r>
          </a:p>
          <a:p>
            <a:r>
              <a:rPr lang="en-US" sz="2400"/>
              <a:t>Certains exemples de variation rare peuvent être catastrophiques et provoquer des maladies et syndromes génétiques rares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974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8A87-5620-D263-1AE7-6205EAD1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43001"/>
            <a:ext cx="10515600" cy="1722862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/>
                </a:solidFill>
              </a:rPr>
              <a:t>Une composante fondamentale de la recherche axée sur les maladies consiste à distinguer les variants pertinents des variants non liés au trait d'intérêt</a:t>
            </a:r>
            <a:endParaRPr lang="en-US" sz="3600">
              <a:solidFill>
                <a:schemeClr val="accent1"/>
              </a:solidFill>
              <a:effectLst/>
            </a:endParaRPr>
          </a:p>
        </p:txBody>
      </p:sp>
      <p:pic>
        <p:nvPicPr>
          <p:cNvPr id="5" name="Picture 4" descr="Has anybody found the needle in the haystack? - CubeUSA">
            <a:extLst>
              <a:ext uri="{FF2B5EF4-FFF2-40B4-BE49-F238E27FC236}">
                <a16:creationId xmlns:a16="http://schemas.microsoft.com/office/drawing/2014/main" id="{55A41D75-07A7-48AB-5C2B-501D3DC8B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10" y="3633538"/>
            <a:ext cx="4245426" cy="2815388"/>
          </a:xfrm>
          <a:prstGeom prst="rect">
            <a:avLst/>
          </a:prstGeom>
        </p:spPr>
      </p:pic>
      <p:pic>
        <p:nvPicPr>
          <p:cNvPr id="6" name="Picture 5" descr="One More Drop in the Ocean ~ Droplet photo from Smelt Bay Cortes Island  British Columbia, Canada - Island Light Photography">
            <a:extLst>
              <a:ext uri="{FF2B5EF4-FFF2-40B4-BE49-F238E27FC236}">
                <a16:creationId xmlns:a16="http://schemas.microsoft.com/office/drawing/2014/main" id="{0B31BF46-6AE7-1BE8-54A9-4A9DE9009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372" y="3702676"/>
            <a:ext cx="4375381" cy="274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42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C97D3F-7948-2F5A-E36F-E3D140E4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Maladie génétique rare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D9B722-89CD-8000-5CBD-ABBA917AD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Un </a:t>
            </a:r>
            <a:r>
              <a:rPr lang="en-US" b="1">
                <a:solidFill>
                  <a:schemeClr val="accent1"/>
                </a:solidFill>
              </a:rPr>
              <a:t>gène</a:t>
            </a:r>
            <a:r>
              <a:rPr lang="en-US"/>
              <a:t> donné est-il causalement associé à une maladie ?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Un </a:t>
            </a:r>
            <a:r>
              <a:rPr lang="en-US" b="1">
                <a:solidFill>
                  <a:schemeClr val="accent1"/>
                </a:solidFill>
              </a:rPr>
              <a:t>variant</a:t>
            </a:r>
            <a:r>
              <a:rPr lang="en-US"/>
              <a:t> donné affectant ce gène est-il associé à la maladie ?</a:t>
            </a:r>
            <a:endParaRPr lang="en-US" dirty="0"/>
          </a:p>
        </p:txBody>
      </p:sp>
      <p:pic>
        <p:nvPicPr>
          <p:cNvPr id="6" name="Picture 5" descr="graphic showing genome v reference">
            <a:extLst>
              <a:ext uri="{FF2B5EF4-FFF2-40B4-BE49-F238E27FC236}">
                <a16:creationId xmlns:a16="http://schemas.microsoft.com/office/drawing/2014/main" id="{47301DFC-525F-90C1-21BC-BB2C72BA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799" y="3157954"/>
            <a:ext cx="5604746" cy="315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9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C6FA-7929-EF74-9CB8-1A79D1FA9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Définitions</a:t>
            </a:r>
            <a:r>
              <a:rPr lang="en-US" b="1">
                <a:solidFill>
                  <a:schemeClr val="tx2"/>
                </a:solidFill>
              </a:rPr>
              <a:t>: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EE4D-BAA1-B32A-5E55-B45BB9871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107" y="1456566"/>
            <a:ext cx="11007043" cy="5012033"/>
          </a:xfrm>
        </p:spPr>
        <p:txBody>
          <a:bodyPr>
            <a:normAutofit/>
          </a:bodyPr>
          <a:lstStyle/>
          <a:p>
            <a:r>
              <a:rPr lang="en-US" sz="1800" b="1"/>
              <a:t>Gène :</a:t>
            </a:r>
            <a:r>
              <a:rPr lang="en-US" sz="1800"/>
              <a:t> l'unité fonctionnelle de base codée dans l'ADN et exprimée en un produit moléculaire discret (ARNm, protéine)</a:t>
            </a:r>
          </a:p>
          <a:p>
            <a:r>
              <a:rPr lang="en-US" sz="1800" b="1"/>
              <a:t>Allèle/variant :</a:t>
            </a:r>
            <a:r>
              <a:rPr lang="en-US" sz="1800"/>
              <a:t> l'une des deux versions possibles (ou plus) d'une séquence d'ADN à un emplacement génomique donné (p. ex. chr1:55039995-C). Peut parfois désigner la position elle-même, avec ou sans détails sur la variation connue dans la population humaine (p. ex. chr1:55039995-C/T, rs334)</a:t>
            </a:r>
          </a:p>
          <a:p>
            <a:r>
              <a:rPr lang="en-US" sz="1800" b="1"/>
              <a:t>Diploïde :</a:t>
            </a:r>
            <a:r>
              <a:rPr lang="en-US" sz="1800"/>
              <a:t> la présence de deux ensembles complets de chromosomes dans les cellules d'un organisme, un ensemble hérité de chaque gamète parental. Les humains sont diploïdes.</a:t>
            </a:r>
          </a:p>
          <a:p>
            <a:r>
              <a:rPr lang="en-US" sz="1800" b="1"/>
              <a:t>Génotype :</a:t>
            </a:r>
            <a:r>
              <a:rPr lang="en-US" sz="1800"/>
              <a:t> la paire diploïde d'allèles qu'un individu donné porte à un emplacement génomique particulier (p. ex. AA, AG, GG, CT, …). Les génotypes peuvent être homozygotes (identiques entre eux) ou hétérozygotes (différents entre eux) chez une personne.</a:t>
            </a:r>
          </a:p>
          <a:p>
            <a:r>
              <a:rPr lang="en-US" sz="1800" b="1"/>
              <a:t>Génome de référence :</a:t>
            </a:r>
            <a:r>
              <a:rPr lang="en-US" sz="1800"/>
              <a:t> une représentation acceptée de la séquence du génome humain (contrôlée par version ; GRCh38 est courante) utilisée par les chercheurs comme norme de comparaison avec les séquences d'ADN générées dans leurs études. Le génome de référence n'est pas un idéal humain « parfait et en bonne santé » ; puisqu'il est concrètement ACTG à tous les loci, il contient des allèles pouvant être associés à un risque accru et/ou diminué de maladies courantes, ainsi que des versions de gènes pouvant prédire certains traits. Le génome de référence n'est pas une personne réelle.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1827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D702-CD10-4ED8-F12B-A1602CD9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Principes d'association des maladies génétiques rares</a:t>
            </a:r>
            <a:endParaRPr lang="en-US" sz="4000" b="1" dirty="0">
              <a:solidFill>
                <a:schemeClr val="accent1"/>
              </a:solidFill>
            </a:endParaRPr>
          </a:p>
        </p:txBody>
      </p:sp>
      <p:pic>
        <p:nvPicPr>
          <p:cNvPr id="5" name="Picture 4" descr="Individuals must have two copies of the mutated gene to display an autosomal recessive condition. Heterozygous individuals (carriers) can transmit the allele to offspring but are not themselves affected.">
            <a:extLst>
              <a:ext uri="{FF2B5EF4-FFF2-40B4-BE49-F238E27FC236}">
                <a16:creationId xmlns:a16="http://schemas.microsoft.com/office/drawing/2014/main" id="{8421E832-A6F9-D111-222C-BD3EC3BE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92" t="12977"/>
          <a:stretch>
            <a:fillRect/>
          </a:stretch>
        </p:blipFill>
        <p:spPr>
          <a:xfrm>
            <a:off x="623454" y="2054603"/>
            <a:ext cx="2514600" cy="2748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EA6BB8-8DE9-BB5F-150E-6EB3CFFF9668}"/>
              </a:ext>
            </a:extLst>
          </p:cNvPr>
          <p:cNvSpPr txBox="1"/>
          <p:nvPr/>
        </p:nvSpPr>
        <p:spPr>
          <a:xfrm>
            <a:off x="623454" y="4803397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25%	50%	25%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0E5E53A4-314C-35F3-5CBE-02B1BC3CC4EA}"/>
              </a:ext>
            </a:extLst>
          </p:cNvPr>
          <p:cNvSpPr/>
          <p:nvPr/>
        </p:nvSpPr>
        <p:spPr>
          <a:xfrm rot="5400000">
            <a:off x="1803404" y="4087908"/>
            <a:ext cx="71877" cy="1107802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583E1E-D277-1F78-1E89-BC714B4EAB0D}"/>
              </a:ext>
            </a:extLst>
          </p:cNvPr>
          <p:cNvSpPr/>
          <p:nvPr/>
        </p:nvSpPr>
        <p:spPr>
          <a:xfrm>
            <a:off x="2452255" y="3429000"/>
            <a:ext cx="691543" cy="17437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D9BCFB-A01F-B354-439A-541AA0895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396" y="1917505"/>
            <a:ext cx="8102150" cy="432072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Le variant causal doit être rare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Le variant causal doit être plus fréquent chez les cas atteints que chez les témoins non atteints</a:t>
            </a:r>
          </a:p>
          <a:p>
            <a:pPr lvl="1"/>
            <a:r>
              <a:rPr lang="en-US" sz="2000"/>
              <a:t>Si des données génétiques familiales sont disponibles, le variant causal doit ségréger avec le trait dans cette famille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Le variant doit avoir un effet fonctionnel sur la biologie différent de la référence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/>
              <a:t>Prédictions bio-informatiques, tests expérimentaux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Une deuxième ligne de preuve indépendante soutient également la relation gène-maladie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/>
              <a:t>Autres familles ou études, modèles animaux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E4A61F-6B2F-D79E-D6D2-C387FA44088E}"/>
              </a:ext>
            </a:extLst>
          </p:cNvPr>
          <p:cNvSpPr txBox="1"/>
          <p:nvPr/>
        </p:nvSpPr>
        <p:spPr>
          <a:xfrm>
            <a:off x="264442" y="6238230"/>
            <a:ext cx="11663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Strande NT, et al. Evaluating the Clinical Validity of Gene-Disease Associations: An Evidence-Based Framework Developed by the Clinical Genome Resource. Am J Hum Genet. 2017 Jun 1;100(6):895-906.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: 10.1016/j.ajhg.2017.04.015.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Epub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 2017 May 25. </a:t>
            </a:r>
            <a:r>
              <a:rPr lang="en-US" sz="1200" dirty="0">
                <a:hlinkClick r:id="rId3"/>
              </a:rPr>
              <a:t>https://pmc.ncbi.nlm.nih.gov/articles/PMC5473734/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821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F9160-77B9-FDEB-7140-D238AC81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D708-6C93-9534-00F6-0F372A32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455" y="365125"/>
            <a:ext cx="11219089" cy="1325563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/>
                </a:solidFill>
              </a:rPr>
              <a:t>Principes d'association des maladies génétiques rares</a:t>
            </a:r>
            <a:endParaRPr lang="en-US" sz="3600">
              <a:solidFill>
                <a:schemeClr val="accent1"/>
              </a:solidFill>
              <a:effectLst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4AE47A4-551F-75E8-AB52-34317061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55" y="1563168"/>
            <a:ext cx="7914588" cy="10167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b="1"/>
              <a:t>Hétérogénéité génétique :</a:t>
            </a:r>
            <a:r>
              <a:rPr lang="en-US" sz="2000"/>
              <a:t> lorsque des mutations dans un certain nombre de gènes différents peuvent toutes provoquer le même diagnostic clinique</a:t>
            </a:r>
            <a:endParaRPr lang="en-US" sz="2000" dirty="0"/>
          </a:p>
        </p:txBody>
      </p:sp>
      <p:pic>
        <p:nvPicPr>
          <p:cNvPr id="4" name="Picture 3" descr="Hypertrophic Cardiomyopathy: Symptoms, Diagnosis, and New Breakthrough Treatments — High Desert Heart &amp; Vascular">
            <a:extLst>
              <a:ext uri="{FF2B5EF4-FFF2-40B4-BE49-F238E27FC236}">
                <a16:creationId xmlns:a16="http://schemas.microsoft.com/office/drawing/2014/main" id="{B838824C-07ED-2B6B-576C-D754883D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264" y="2260503"/>
            <a:ext cx="2895825" cy="20357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49C1D6-A13A-41C2-533C-BBF6171F58C8}"/>
              </a:ext>
            </a:extLst>
          </p:cNvPr>
          <p:cNvSpPr txBox="1"/>
          <p:nvPr/>
        </p:nvSpPr>
        <p:spPr>
          <a:xfrm>
            <a:off x="8619068" y="4482547"/>
            <a:ext cx="3479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Cardiomyopathie hypertrophique</a:t>
            </a:r>
            <a:endParaRPr lang="en-US" dirty="0"/>
          </a:p>
        </p:txBody>
      </p:sp>
      <p:pic>
        <p:nvPicPr>
          <p:cNvPr id="11" name="Picture 10" descr="Hypertrophic cardiomyopathy - The Lancet">
            <a:extLst>
              <a:ext uri="{FF2B5EF4-FFF2-40B4-BE49-F238E27FC236}">
                <a16:creationId xmlns:a16="http://schemas.microsoft.com/office/drawing/2014/main" id="{B0CE05A8-6800-1DB6-D039-0A3EDDC47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183" y="2756203"/>
            <a:ext cx="2211742" cy="1341431"/>
          </a:xfrm>
          <a:prstGeom prst="rect">
            <a:avLst/>
          </a:prstGeom>
        </p:spPr>
      </p:pic>
      <p:pic>
        <p:nvPicPr>
          <p:cNvPr id="13" name="Graphic 12" descr="Man outline">
            <a:extLst>
              <a:ext uri="{FF2B5EF4-FFF2-40B4-BE49-F238E27FC236}">
                <a16:creationId xmlns:a16="http://schemas.microsoft.com/office/drawing/2014/main" id="{7C7103C9-68F6-2D9B-0F2B-EC52E9249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310" y="3294034"/>
            <a:ext cx="588169" cy="588169"/>
          </a:xfrm>
          <a:prstGeom prst="rect">
            <a:avLst/>
          </a:prstGeom>
        </p:spPr>
      </p:pic>
      <p:pic>
        <p:nvPicPr>
          <p:cNvPr id="15" name="Graphic 14" descr="Man outline">
            <a:extLst>
              <a:ext uri="{FF2B5EF4-FFF2-40B4-BE49-F238E27FC236}">
                <a16:creationId xmlns:a16="http://schemas.microsoft.com/office/drawing/2014/main" id="{5C4E283A-44A9-6B8E-EF09-962035B9B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2970" y="3417265"/>
            <a:ext cx="725334" cy="725334"/>
          </a:xfrm>
          <a:prstGeom prst="rect">
            <a:avLst/>
          </a:prstGeom>
        </p:spPr>
      </p:pic>
      <p:pic>
        <p:nvPicPr>
          <p:cNvPr id="17" name="Graphic 16" descr="Woman outline">
            <a:extLst>
              <a:ext uri="{FF2B5EF4-FFF2-40B4-BE49-F238E27FC236}">
                <a16:creationId xmlns:a16="http://schemas.microsoft.com/office/drawing/2014/main" id="{F90CF5C2-63FB-DAFC-460D-C2229E40D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3429" y="3292090"/>
            <a:ext cx="629469" cy="629469"/>
          </a:xfrm>
          <a:prstGeom prst="rect">
            <a:avLst/>
          </a:prstGeom>
        </p:spPr>
      </p:pic>
      <p:pic>
        <p:nvPicPr>
          <p:cNvPr id="19" name="Graphic 18" descr="Man outline">
            <a:extLst>
              <a:ext uri="{FF2B5EF4-FFF2-40B4-BE49-F238E27FC236}">
                <a16:creationId xmlns:a16="http://schemas.microsoft.com/office/drawing/2014/main" id="{01B5370B-ACF2-1233-D74A-6782EDFE4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8016" y="2630889"/>
            <a:ext cx="717959" cy="717959"/>
          </a:xfrm>
          <a:prstGeom prst="rect">
            <a:avLst/>
          </a:prstGeom>
        </p:spPr>
      </p:pic>
      <p:pic>
        <p:nvPicPr>
          <p:cNvPr id="21" name="Graphic 20" descr="Woman outline">
            <a:extLst>
              <a:ext uri="{FF2B5EF4-FFF2-40B4-BE49-F238E27FC236}">
                <a16:creationId xmlns:a16="http://schemas.microsoft.com/office/drawing/2014/main" id="{FB5060CD-7202-52F3-5276-2CD4300CC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5669" y="2598263"/>
            <a:ext cx="588169" cy="588169"/>
          </a:xfrm>
          <a:prstGeom prst="rect">
            <a:avLst/>
          </a:prstGeom>
        </p:spPr>
      </p:pic>
      <p:pic>
        <p:nvPicPr>
          <p:cNvPr id="26" name="Graphic 25" descr="Heart with pulse with solid fill">
            <a:extLst>
              <a:ext uri="{FF2B5EF4-FFF2-40B4-BE49-F238E27FC236}">
                <a16:creationId xmlns:a16="http://schemas.microsoft.com/office/drawing/2014/main" id="{CF7E2321-0FC7-961D-DAB5-299757F349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6484" y="3485683"/>
            <a:ext cx="99491" cy="99491"/>
          </a:xfrm>
          <a:prstGeom prst="rect">
            <a:avLst/>
          </a:prstGeom>
        </p:spPr>
      </p:pic>
      <p:pic>
        <p:nvPicPr>
          <p:cNvPr id="28" name="Graphic 27" descr="Heart with pulse with solid fill">
            <a:extLst>
              <a:ext uri="{FF2B5EF4-FFF2-40B4-BE49-F238E27FC236}">
                <a16:creationId xmlns:a16="http://schemas.microsoft.com/office/drawing/2014/main" id="{E63DE20C-0CD4-6DC7-68DB-E9ADFC2C8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4192" y="2861998"/>
            <a:ext cx="99491" cy="99491"/>
          </a:xfrm>
          <a:prstGeom prst="rect">
            <a:avLst/>
          </a:prstGeom>
        </p:spPr>
      </p:pic>
      <p:pic>
        <p:nvPicPr>
          <p:cNvPr id="29" name="Graphic 28" descr="Heart with pulse with solid fill">
            <a:extLst>
              <a:ext uri="{FF2B5EF4-FFF2-40B4-BE49-F238E27FC236}">
                <a16:creationId xmlns:a16="http://schemas.microsoft.com/office/drawing/2014/main" id="{AAA2918E-7F8D-512A-CE58-44801420B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7363" y="3663358"/>
            <a:ext cx="99491" cy="99491"/>
          </a:xfrm>
          <a:prstGeom prst="rect">
            <a:avLst/>
          </a:prstGeom>
        </p:spPr>
      </p:pic>
      <p:pic>
        <p:nvPicPr>
          <p:cNvPr id="30" name="Graphic 29" descr="Heart with pulse with solid fill">
            <a:extLst>
              <a:ext uri="{FF2B5EF4-FFF2-40B4-BE49-F238E27FC236}">
                <a16:creationId xmlns:a16="http://schemas.microsoft.com/office/drawing/2014/main" id="{406DAB73-C0AF-5DDC-C648-ED383D52E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7086" y="3484126"/>
            <a:ext cx="99491" cy="99491"/>
          </a:xfrm>
          <a:prstGeom prst="rect">
            <a:avLst/>
          </a:prstGeom>
        </p:spPr>
      </p:pic>
      <p:pic>
        <p:nvPicPr>
          <p:cNvPr id="31" name="Graphic 30" descr="Heart with pulse with solid fill">
            <a:extLst>
              <a:ext uri="{FF2B5EF4-FFF2-40B4-BE49-F238E27FC236}">
                <a16:creationId xmlns:a16="http://schemas.microsoft.com/office/drawing/2014/main" id="{185D0C35-EAC7-CFDF-2575-CE4ED9C043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0007" y="2769997"/>
            <a:ext cx="99491" cy="9949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D2BA75-B854-817F-7371-C734315C383E}"/>
              </a:ext>
            </a:extLst>
          </p:cNvPr>
          <p:cNvCxnSpPr>
            <a:cxnSpLocks/>
          </p:cNvCxnSpPr>
          <p:nvPr/>
        </p:nvCxnSpPr>
        <p:spPr>
          <a:xfrm>
            <a:off x="1889380" y="2814796"/>
            <a:ext cx="846411" cy="6561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A87C03B-E73C-C31E-B34A-218919DE90D1}"/>
              </a:ext>
            </a:extLst>
          </p:cNvPr>
          <p:cNvCxnSpPr>
            <a:cxnSpLocks/>
          </p:cNvCxnSpPr>
          <p:nvPr/>
        </p:nvCxnSpPr>
        <p:spPr>
          <a:xfrm flipV="1">
            <a:off x="1472583" y="2989868"/>
            <a:ext cx="1292018" cy="54400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FFC95AA-2CAF-FC04-768F-162D93735510}"/>
              </a:ext>
            </a:extLst>
          </p:cNvPr>
          <p:cNvCxnSpPr>
            <a:cxnSpLocks/>
          </p:cNvCxnSpPr>
          <p:nvPr/>
        </p:nvCxnSpPr>
        <p:spPr>
          <a:xfrm>
            <a:off x="2094441" y="3713103"/>
            <a:ext cx="98907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AFBD40-4514-689F-E6EE-108F39D9BF60}"/>
              </a:ext>
            </a:extLst>
          </p:cNvPr>
          <p:cNvCxnSpPr>
            <a:cxnSpLocks/>
          </p:cNvCxnSpPr>
          <p:nvPr/>
        </p:nvCxnSpPr>
        <p:spPr>
          <a:xfrm flipH="1">
            <a:off x="3878791" y="2847601"/>
            <a:ext cx="1054100" cy="14226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418002-C15F-D03F-F54D-8C2619805054}"/>
              </a:ext>
            </a:extLst>
          </p:cNvPr>
          <p:cNvCxnSpPr>
            <a:cxnSpLocks/>
          </p:cNvCxnSpPr>
          <p:nvPr/>
        </p:nvCxnSpPr>
        <p:spPr>
          <a:xfrm flipH="1">
            <a:off x="4458691" y="3484126"/>
            <a:ext cx="786191" cy="40832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605F34B-D9EE-972D-2D12-FA8C4D5FA889}"/>
              </a:ext>
            </a:extLst>
          </p:cNvPr>
          <p:cNvSpPr txBox="1"/>
          <p:nvPr/>
        </p:nvSpPr>
        <p:spPr>
          <a:xfrm>
            <a:off x="1889380" y="2632157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</a:rPr>
              <a:t>MYBPC3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CDC8A7-3D21-47DD-EFF4-FEA249327E4E}"/>
              </a:ext>
            </a:extLst>
          </p:cNvPr>
          <p:cNvSpPr txBox="1"/>
          <p:nvPr/>
        </p:nvSpPr>
        <p:spPr>
          <a:xfrm>
            <a:off x="1377238" y="3212029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</a:rPr>
              <a:t>MYBPC3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B0997A-092E-6076-E041-6BE4885AF5A2}"/>
              </a:ext>
            </a:extLst>
          </p:cNvPr>
          <p:cNvSpPr txBox="1"/>
          <p:nvPr/>
        </p:nvSpPr>
        <p:spPr>
          <a:xfrm>
            <a:off x="1996892" y="3492593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</a:rPr>
              <a:t>MYH7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D34346-F116-DE28-7044-6F305FA953BE}"/>
              </a:ext>
            </a:extLst>
          </p:cNvPr>
          <p:cNvSpPr txBox="1"/>
          <p:nvPr/>
        </p:nvSpPr>
        <p:spPr>
          <a:xfrm>
            <a:off x="4522216" y="2646554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</a:rPr>
              <a:t>TNNT2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EC69AB-3320-32FB-ECCD-6A565791CC10}"/>
              </a:ext>
            </a:extLst>
          </p:cNvPr>
          <p:cNvSpPr txBox="1"/>
          <p:nvPr/>
        </p:nvSpPr>
        <p:spPr>
          <a:xfrm>
            <a:off x="4598761" y="3435625"/>
            <a:ext cx="4908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00000"/>
                </a:solidFill>
              </a:rPr>
              <a:t>ACTC1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AD5F190-C57E-F2A5-B141-78AD47D7EE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7170"/>
          <a:stretch>
            <a:fillRect/>
          </a:stretch>
        </p:blipFill>
        <p:spPr>
          <a:xfrm>
            <a:off x="1063310" y="5528097"/>
            <a:ext cx="6440464" cy="62944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BC56794-7562-E78B-2B19-1D6F299CE7EC}"/>
              </a:ext>
            </a:extLst>
          </p:cNvPr>
          <p:cNvSpPr txBox="1"/>
          <p:nvPr/>
        </p:nvSpPr>
        <p:spPr>
          <a:xfrm>
            <a:off x="1015665" y="5291713"/>
            <a:ext cx="801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MYBPC3: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2ACFA3F4-7DB1-8EA7-6DF8-52DC6E39BD5E}"/>
              </a:ext>
            </a:extLst>
          </p:cNvPr>
          <p:cNvSpPr txBox="1">
            <a:spLocks/>
          </p:cNvSpPr>
          <p:nvPr/>
        </p:nvSpPr>
        <p:spPr>
          <a:xfrm>
            <a:off x="486455" y="4378454"/>
            <a:ext cx="7914588" cy="8715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800" b="1"/>
              <a:t>Hétérogénéité allélique :</a:t>
            </a:r>
            <a:r>
              <a:rPr lang="en-US" sz="1800"/>
              <a:t> lorsque des personnes ayant le même diagnostic clinique et le même gène causal présentent des allèles pathogènes différents</a:t>
            </a:r>
            <a:endParaRPr lang="en-US" sz="1800">
              <a:effectLst/>
            </a:endParaRPr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620F8AC3-CBE0-66DD-67ED-118F30680325}"/>
              </a:ext>
            </a:extLst>
          </p:cNvPr>
          <p:cNvSpPr/>
          <p:nvPr/>
        </p:nvSpPr>
        <p:spPr>
          <a:xfrm rot="10800000">
            <a:off x="7872955" y="5366054"/>
            <a:ext cx="575733" cy="9138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889B6D-CFD1-E8AF-1BA1-69D1FD4CAA38}"/>
              </a:ext>
            </a:extLst>
          </p:cNvPr>
          <p:cNvSpPr txBox="1"/>
          <p:nvPr/>
        </p:nvSpPr>
        <p:spPr>
          <a:xfrm>
            <a:off x="8619068" y="5407468"/>
            <a:ext cx="32940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</a:rPr>
              <a:t>Fondement conceptuel des tests de charge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71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8" grpId="0"/>
      <p:bldP spid="69" grpId="0" animBg="1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BFC6-2320-5975-D4D0-7DA3F8FB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>
                <a:solidFill>
                  <a:schemeClr val="accent1"/>
                </a:solidFill>
              </a:rPr>
              <a:t>Tests de charge (burden) et SKAT (test d'association par noyau de sequence) pour l'association gène-maladie</a:t>
            </a:r>
            <a:endParaRPr lang="en-US" sz="3600" b="1">
              <a:solidFill>
                <a:schemeClr val="accent1"/>
              </a:solidFill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7861-E587-6E23-3B67-E4C42D1D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43655"/>
          </a:xfrm>
        </p:spPr>
        <p:txBody>
          <a:bodyPr>
            <a:normAutofit/>
          </a:bodyPr>
          <a:lstStyle/>
          <a:p>
            <a:r>
              <a:rPr lang="en-US" sz="2400" i="1"/>
              <a:t>Suppose une hétérogénéité allélique </a:t>
            </a:r>
            <a:r>
              <a:rPr lang="en-US" sz="2400"/>
              <a:t>et utilise le gène – plutôt que le variant – comme unité d'association</a:t>
            </a:r>
          </a:p>
          <a:p>
            <a:r>
              <a:rPr lang="en-US" sz="2400" b="1">
                <a:solidFill>
                  <a:schemeClr val="accent1"/>
                </a:solidFill>
              </a:rPr>
              <a:t>Test de charge </a:t>
            </a:r>
            <a:r>
              <a:rPr lang="en-US" sz="2400"/>
              <a:t>(burden test) : regroupe tous les variants qualifiants au niveau du gène avant le test d'association</a:t>
            </a:r>
          </a:p>
          <a:p>
            <a:r>
              <a:rPr lang="en-US" sz="2400" b="1">
                <a:solidFill>
                  <a:schemeClr val="accent1"/>
                </a:solidFill>
              </a:rPr>
              <a:t>SKAT</a:t>
            </a:r>
            <a:r>
              <a:rPr lang="en-US" sz="2400"/>
              <a:t>: utilise une statistique de composante de variance (pondérée par la fréquence inverse) qui crée un score de similarité patient à patient pour le gène. Autrement dit, si deux patients portent tous deux un variant ultra-rare au sein d'un gène, ils sont mathématiquement évalués comme deux individus très similaires.</a:t>
            </a:r>
          </a:p>
          <a:p>
            <a:r>
              <a:rPr lang="en-US" sz="2400" b="1">
                <a:solidFill>
                  <a:schemeClr val="accent1"/>
                </a:solidFill>
              </a:rPr>
              <a:t>SKAT-o </a:t>
            </a:r>
            <a:r>
              <a:rPr lang="en-US" sz="2400" b="1" dirty="0">
                <a:solidFill>
                  <a:schemeClr val="accent1"/>
                </a:solidFill>
              </a:rPr>
              <a:t>(SKAT-optimal): </a:t>
            </a:r>
            <a:r>
              <a:rPr lang="en-US" sz="2400" dirty="0">
                <a:solidFill>
                  <a:schemeClr val="tx2"/>
                </a:solidFill>
              </a:rPr>
              <a:t>combines burden + SKAT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9FA4-629F-05C4-D2AA-CB2D07758F54}"/>
              </a:ext>
            </a:extLst>
          </p:cNvPr>
          <p:cNvSpPr txBox="1"/>
          <p:nvPr/>
        </p:nvSpPr>
        <p:spPr>
          <a:xfrm>
            <a:off x="214448" y="5988734"/>
            <a:ext cx="11763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Lee S, Emond MJ, Bamshad MJ, Barnes KC, Rieder MJ, Nickerson DA; NHLBI GO Exome Sequencing Project—ESP Lung Project Team; Christiani DC, Wurfel MM, Lin X. Optimal unified approach for rare-variant association testing with application to small-sample case-control whole-exome sequencing studies. Am J Hum Genet. 2012 Aug 10;91(2):224-37.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: 10.1016/j.ajhg.2012.06.007.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Epub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 2012 Aug 2. </a:t>
            </a:r>
            <a:r>
              <a:rPr lang="en-US" sz="1200" dirty="0">
                <a:hlinkClick r:id="rId2"/>
              </a:rPr>
              <a:t>https://pmc.ncbi.nlm.nih.gov/articles/PMC3415556/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927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D58B-AF34-B9EE-7DAA-336338C0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0349"/>
          </a:xfrm>
        </p:spPr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Comparaison de modèles statistiques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3901F2-78A6-C8A8-E2B9-ED43D8E623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02819"/>
              </p:ext>
            </p:extLst>
          </p:nvPr>
        </p:nvGraphicFramePr>
        <p:xfrm>
          <a:off x="317864" y="1345474"/>
          <a:ext cx="11556274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4521">
                  <a:extLst>
                    <a:ext uri="{9D8B030D-6E8A-4147-A177-3AD203B41FA5}">
                      <a16:colId xmlns:a16="http://schemas.microsoft.com/office/drawing/2014/main" val="1275508230"/>
                    </a:ext>
                  </a:extLst>
                </a:gridCol>
                <a:gridCol w="4574079">
                  <a:extLst>
                    <a:ext uri="{9D8B030D-6E8A-4147-A177-3AD203B41FA5}">
                      <a16:colId xmlns:a16="http://schemas.microsoft.com/office/drawing/2014/main" val="157343566"/>
                    </a:ext>
                  </a:extLst>
                </a:gridCol>
                <a:gridCol w="4977674">
                  <a:extLst>
                    <a:ext uri="{9D8B030D-6E8A-4147-A177-3AD203B41FA5}">
                      <a16:colId xmlns:a16="http://schemas.microsoft.com/office/drawing/2014/main" val="1450897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Caractéristique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Burden </a:t>
                      </a:r>
                      <a:r>
                        <a:rPr lang="en-US"/>
                        <a:t>Test (plus intuitif)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SKAT </a:t>
                      </a:r>
                      <a:r>
                        <a:rPr lang="en-US"/>
                        <a:t>tests (plus sophistiqués)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834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Mécanisme central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Regroupe/agrège les variants en un score génétique unique avant de tester l'association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Agrège les statistiques de test des variants individuels en utilisant la similarité génotypique par paire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206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La direction de l'effet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Suppose que tous les variants causaux modifient le phénotype dans </a:t>
                      </a:r>
                      <a:r>
                        <a:rPr lang="en-US" b="1">
                          <a:effectLst/>
                        </a:rPr>
                        <a:t>la même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Permet aux variants d'avoir des directions d'effet </a:t>
                      </a:r>
                      <a:r>
                        <a:rPr lang="en-US" b="1"/>
                        <a:t>différentes/opposées </a:t>
                      </a:r>
                      <a:r>
                        <a:rPr lang="en-US"/>
                        <a:t>(à la fois pathogènes et protecteurs)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75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Variants non causaux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Très sensible</a:t>
                      </a:r>
                      <a:r>
                        <a:rPr lang="en-US" b="0">
                          <a:effectLst/>
                        </a:rPr>
                        <a:t>; la puissance statistique diminue si une grande proportion des variants inclus sont non causaux/bénins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Plus robuste</a:t>
                      </a:r>
                      <a:r>
                        <a:rPr lang="en-US" b="0">
                          <a:effectLst/>
                        </a:rPr>
                        <a:t>; conserve bien la puissance statistique même avec de nombreux variants non causaux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79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Scénario optimal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Optimal lorsque la plupart des variants qualifiés sont causaux et que tous les effets partagent la même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Continue de fonctionner même lorsqu'une grande proportion des variants est non causale ou si les effets sont de directions opposées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26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Cadre statistique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Régression linéaire ou logistique sur le score de charge regroupé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Test de composante de variance utilisant l'apprentissage automatique à noyau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073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Paramètre de non-centralité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effectLst/>
                        </a:rPr>
                        <a:t>Sommé, puis mis au carré: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NCP ∝ (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lang="en-US" sz="1800" b="0" i="0" kern="1200" baseline="-250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β</a:t>
                      </a:r>
                      <a:r>
                        <a:rPr lang="en-US" sz="1800" b="0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)²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Mis au carré, puis sommé:</a:t>
                      </a:r>
                      <a:br>
                        <a:rPr lang="en-US" dirty="0"/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NCP ∝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Σ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</a:t>
                      </a:r>
                      <a:r>
                        <a:rPr lang="en-US" sz="1800" b="0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en-US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β</a:t>
                      </a:r>
                      <a:r>
                        <a:rPr lang="en-US" sz="1800" b="0" i="0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</a:t>
                      </a:r>
                      <a:r>
                        <a:rPr lang="en-US" sz="18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79833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02AE483-7D7C-13D0-48B8-B678B7711FFD}"/>
              </a:ext>
            </a:extLst>
          </p:cNvPr>
          <p:cNvSpPr/>
          <p:nvPr/>
        </p:nvSpPr>
        <p:spPr>
          <a:xfrm>
            <a:off x="2314573" y="2626736"/>
            <a:ext cx="9559561" cy="940526"/>
          </a:xfrm>
          <a:prstGeom prst="rect">
            <a:avLst/>
          </a:prstGeom>
          <a:solidFill>
            <a:srgbClr val="E7EB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E5FA8-069F-867F-9AE0-3E87B521C125}"/>
              </a:ext>
            </a:extLst>
          </p:cNvPr>
          <p:cNvSpPr/>
          <p:nvPr/>
        </p:nvSpPr>
        <p:spPr>
          <a:xfrm>
            <a:off x="2314575" y="3543765"/>
            <a:ext cx="9559561" cy="886468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DC0CA1-0AA8-8EB7-1AE2-93E0DB20582D}"/>
              </a:ext>
            </a:extLst>
          </p:cNvPr>
          <p:cNvSpPr/>
          <p:nvPr/>
        </p:nvSpPr>
        <p:spPr>
          <a:xfrm>
            <a:off x="2314574" y="4527699"/>
            <a:ext cx="9559561" cy="831110"/>
          </a:xfrm>
          <a:prstGeom prst="rect">
            <a:avLst/>
          </a:prstGeom>
          <a:solidFill>
            <a:srgbClr val="E7EB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61B67F-4ACC-52B3-9DAC-865090EB2BCD}"/>
              </a:ext>
            </a:extLst>
          </p:cNvPr>
          <p:cNvSpPr/>
          <p:nvPr/>
        </p:nvSpPr>
        <p:spPr>
          <a:xfrm>
            <a:off x="2314576" y="5358809"/>
            <a:ext cx="9559562" cy="129526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5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CE9E0-6D0F-2042-5414-9A954117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FD0D-9C6D-E9A1-6039-ACAC8C95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Principes d'association des maladies génétiques rares</a:t>
            </a:r>
            <a:endParaRPr lang="en-US" sz="4000" b="1" dirty="0">
              <a:solidFill>
                <a:schemeClr val="accent1"/>
              </a:solidFill>
            </a:endParaRPr>
          </a:p>
        </p:txBody>
      </p:sp>
      <p:pic>
        <p:nvPicPr>
          <p:cNvPr id="5" name="Picture 4" descr="Individuals must have two copies of the mutated gene to display an autosomal recessive condition. Heterozygous individuals (carriers) can transmit the allele to offspring but are not themselves affected.">
            <a:extLst>
              <a:ext uri="{FF2B5EF4-FFF2-40B4-BE49-F238E27FC236}">
                <a16:creationId xmlns:a16="http://schemas.microsoft.com/office/drawing/2014/main" id="{40A423CB-8AC6-4150-190A-BD7615837A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92" t="12977"/>
          <a:stretch>
            <a:fillRect/>
          </a:stretch>
        </p:blipFill>
        <p:spPr>
          <a:xfrm>
            <a:off x="623454" y="2054603"/>
            <a:ext cx="2514600" cy="2748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0E1541-8E16-DFA5-1141-25B461B0ED36}"/>
              </a:ext>
            </a:extLst>
          </p:cNvPr>
          <p:cNvSpPr txBox="1"/>
          <p:nvPr/>
        </p:nvSpPr>
        <p:spPr>
          <a:xfrm>
            <a:off x="623454" y="4803397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25%	50%	25%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F94FAC30-065A-B692-7678-A694FE9D3E62}"/>
              </a:ext>
            </a:extLst>
          </p:cNvPr>
          <p:cNvSpPr/>
          <p:nvPr/>
        </p:nvSpPr>
        <p:spPr>
          <a:xfrm rot="5400000">
            <a:off x="1803404" y="4087908"/>
            <a:ext cx="71877" cy="1107802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119094-09F9-77F9-7DB7-DC09BC78BFDE}"/>
              </a:ext>
            </a:extLst>
          </p:cNvPr>
          <p:cNvSpPr/>
          <p:nvPr/>
        </p:nvSpPr>
        <p:spPr>
          <a:xfrm>
            <a:off x="2452255" y="3429000"/>
            <a:ext cx="691543" cy="17437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A2CE55-6CD2-936E-CB30-6FCDA2AC2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396" y="1917505"/>
            <a:ext cx="8102150" cy="432072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Le variant causal doit être rare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Le variant causal doit être plus fréquent chez les cas atteints que chez les témoins non atteints</a:t>
            </a:r>
          </a:p>
          <a:p>
            <a:pPr lvl="1"/>
            <a:r>
              <a:rPr lang="en-US" sz="2000"/>
              <a:t>Si des données génétiques familiales sont disponibles, le variant causal doit ségréger avec le trait dans cette famille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Le variant doit avoir un effet fonctionnel sur la biologie différent de la référence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/>
              <a:t>Prédictions bio-informatiques, tests expérimentaux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Une deuxième ligne de preuve indépendante soutient également la relation gène-maladie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/>
              <a:t>Autres familles ou études, modèles animaux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B02B9-25F4-1999-A5B9-60CCCF006138}"/>
              </a:ext>
            </a:extLst>
          </p:cNvPr>
          <p:cNvSpPr txBox="1"/>
          <p:nvPr/>
        </p:nvSpPr>
        <p:spPr>
          <a:xfrm>
            <a:off x="264442" y="6238230"/>
            <a:ext cx="11663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Strande NT, et al. Evaluating the Clinical Validity of Gene-Disease Associations: An Evidence-Based Framework Developed by the Clinical Genome Resource. Am J Hum Genet. 2017 Jun 1;100(6):895-906.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: 10.1016/j.ajhg.2017.04.015.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Epub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 2017 May 25. </a:t>
            </a:r>
            <a:r>
              <a:rPr lang="en-US" sz="1200" dirty="0">
                <a:hlinkClick r:id="rId3"/>
              </a:rPr>
              <a:t>https://pmc.ncbi.nlm.nih.gov/articles/PMC5473734/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640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64EC3-1F3F-1BB3-3D55-E26BD2B9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solidFill>
                  <a:schemeClr val="accent1"/>
                </a:solidFill>
              </a:rPr>
              <a:t>Annotation des variants : comment savoir si un variant est rare</a:t>
            </a:r>
            <a:endParaRPr lang="en-US" sz="3600">
              <a:solidFill>
                <a:schemeClr val="accent1"/>
              </a:solidFill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B964-085F-F084-CBBA-C59CE2FE9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65"/>
            <a:ext cx="10515600" cy="4918710"/>
          </a:xfrm>
        </p:spPr>
        <p:txBody>
          <a:bodyPr>
            <a:noAutofit/>
          </a:bodyPr>
          <a:lstStyle/>
          <a:p>
            <a:r>
              <a:rPr lang="en-US" sz="2400"/>
              <a:t>Commencez par votre maladie/trait, pas par la génétique</a:t>
            </a:r>
          </a:p>
          <a:p>
            <a:r>
              <a:rPr lang="en-US" sz="2400"/>
              <a:t>Si la maladie est bien étudiée, consultez les études de cohorte connues et les variants pathogènes déjà rapportés comme guide</a:t>
            </a:r>
          </a:p>
          <a:p>
            <a:pPr lvl="1"/>
            <a:r>
              <a:rPr lang="en-US" sz="2000"/>
              <a:t>ClinVar : </a:t>
            </a:r>
            <a:r>
              <a:rPr lang="en-US" sz="2000">
                <a:hlinkClick r:id="rId2"/>
              </a:rPr>
              <a:t>https://www.ncbi.nlm.nih.gov/clinvar/</a:t>
            </a:r>
            <a:endParaRPr lang="en-US" sz="2000"/>
          </a:p>
          <a:p>
            <a:pPr lvl="1"/>
            <a:r>
              <a:rPr lang="en-US" sz="2000"/>
              <a:t>Votre propre cohorte</a:t>
            </a:r>
          </a:p>
          <a:p>
            <a:r>
              <a:rPr lang="en-US" sz="2400"/>
              <a:t>Exploitez les grandes ressources publiques</a:t>
            </a:r>
          </a:p>
          <a:p>
            <a:pPr lvl="1"/>
            <a:r>
              <a:rPr lang="en-US" sz="2000"/>
              <a:t>gnomAD (see also GenIE): </a:t>
            </a:r>
            <a:r>
              <a:rPr lang="en-US" sz="2000">
                <a:hlinkClick r:id="rId3"/>
              </a:rPr>
              <a:t>https://gnomad.broadinstitute.org/</a:t>
            </a:r>
            <a:r>
              <a:rPr lang="en-US" sz="2000"/>
              <a:t> (</a:t>
            </a:r>
            <a:r>
              <a:rPr lang="en-US" sz="2000">
                <a:hlinkClick r:id="rId4"/>
              </a:rPr>
              <a:t>https://gnomad.broadinstitute.org/news/2024-06-genie/</a:t>
            </a:r>
            <a:r>
              <a:rPr lang="en-US" sz="2000"/>
              <a:t>) </a:t>
            </a:r>
          </a:p>
          <a:p>
            <a:pPr lvl="1"/>
            <a:r>
              <a:rPr lang="en-US" sz="2000"/>
              <a:t>All of Us: </a:t>
            </a:r>
            <a:r>
              <a:rPr lang="en-US" sz="2000">
                <a:hlinkClick r:id="rId5"/>
              </a:rPr>
              <a:t>https://databrowser.researchallofus.org/snvsindels/</a:t>
            </a:r>
            <a:endParaRPr lang="en-US" sz="2000"/>
          </a:p>
          <a:p>
            <a:r>
              <a:rPr lang="en-US" sz="2400"/>
              <a:t>Portez attention à l'ascendance</a:t>
            </a:r>
          </a:p>
          <a:p>
            <a:pPr lvl="1"/>
            <a:r>
              <a:rPr lang="en-US" sz="2000"/>
              <a:t>De nombreux variants peuvent être rares dans une population, mais observés plus fréquemment dans une autre</a:t>
            </a:r>
          </a:p>
          <a:p>
            <a:r>
              <a:rPr lang="en-US" sz="2400"/>
              <a:t>La fréquence est le critère le plus important pour « qualifier » un variant</a:t>
            </a:r>
          </a:p>
        </p:txBody>
      </p:sp>
    </p:spTree>
    <p:extLst>
      <p:ext uri="{BB962C8B-B14F-4D97-AF65-F5344CB8AC3E}">
        <p14:creationId xmlns:p14="http://schemas.microsoft.com/office/powerpoint/2010/main" val="3914993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521C-1F08-9AE1-009D-DA53DCCB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EB08-54FD-EE0F-3773-61909D370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solidFill>
                  <a:schemeClr val="accent1"/>
                </a:solidFill>
              </a:rPr>
              <a:t>Annotation des variants : comment savoir si un variant est rare</a:t>
            </a:r>
            <a:endParaRPr lang="en-US" sz="36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74633-2EAA-793C-3082-B356F231A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6251713" cy="1031874"/>
              </a:xfrm>
            </p:spPr>
            <p:txBody>
              <a:bodyPr>
                <a:noAutofit/>
              </a:bodyPr>
              <a:lstStyle/>
              <a:p>
                <a:r>
                  <a:rPr lang="en-US" sz="2400"/>
                  <a:t>Équilibre de Hardy-Weinberg où :</a:t>
                </a:r>
                <a:endParaRPr lang="en-US" sz="240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/>
                  <a:t> = fréquence de l'allèle majeur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/>
                  <a:t> = fréquence de l'allèle mineur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74633-2EAA-793C-3082-B356F231A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6251713" cy="1031874"/>
              </a:xfrm>
              <a:blipFill>
                <a:blip r:embed="rId2"/>
                <a:stretch>
                  <a:fillRect l="-1420" t="-8434" b="-16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CC04F4-6F48-A661-9F22-08DE0B9F6EA8}"/>
                  </a:ext>
                </a:extLst>
              </p:cNvPr>
              <p:cNvSpPr txBox="1"/>
              <p:nvPr/>
            </p:nvSpPr>
            <p:spPr>
              <a:xfrm>
                <a:off x="1695913" y="3202431"/>
                <a:ext cx="3511415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baseline="300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CC04F4-6F48-A661-9F22-08DE0B9F6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5913" y="3202431"/>
                <a:ext cx="3511415" cy="453137"/>
              </a:xfrm>
              <a:prstGeom prst="rect">
                <a:avLst/>
              </a:prstGeom>
              <a:blipFill>
                <a:blip r:embed="rId3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40CAC6-79DC-3B28-6529-79F5EF2EEAF4}"/>
                  </a:ext>
                </a:extLst>
              </p:cNvPr>
              <p:cNvSpPr txBox="1"/>
              <p:nvPr/>
            </p:nvSpPr>
            <p:spPr>
              <a:xfrm>
                <a:off x="2322443" y="4560282"/>
                <a:ext cx="6808304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e>
                      </m:d>
                      <m:r>
                        <a:rPr lang="en-US" sz="24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1−0.01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(0.01)+(0.01)</m:t>
                      </m:r>
                      <m:r>
                        <a:rPr lang="en-US" sz="24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baseline="300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40CAC6-79DC-3B28-6529-79F5EF2EE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443" y="4560282"/>
                <a:ext cx="6808304" cy="453137"/>
              </a:xfrm>
              <a:prstGeom prst="rect">
                <a:avLst/>
              </a:prstGeom>
              <a:blipFill>
                <a:blip r:embed="rId4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E52867F-FC21-9080-7C15-03D32E107789}"/>
              </a:ext>
            </a:extLst>
          </p:cNvPr>
          <p:cNvSpPr txBox="1"/>
          <p:nvPr/>
        </p:nvSpPr>
        <p:spPr>
          <a:xfrm>
            <a:off x="825500" y="3920489"/>
            <a:ext cx="11002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En supposant que la fréquence de l'allèle mineur = 0,01, les fréquences génotypiques deviennent :</a:t>
            </a:r>
            <a:endParaRPr lang="en-US" sz="200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73262-5A99-29C8-BB69-9B85B79A9346}"/>
              </a:ext>
            </a:extLst>
          </p:cNvPr>
          <p:cNvSpPr txBox="1"/>
          <p:nvPr/>
        </p:nvSpPr>
        <p:spPr>
          <a:xfrm>
            <a:off x="3455503" y="5083341"/>
            <a:ext cx="5436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5"/>
                </a:solidFill>
              </a:rPr>
              <a:t>98.01%	         1.98% 	          0.01%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44253-DEE4-E8D4-AC9A-78BD50DF0164}"/>
              </a:ext>
            </a:extLst>
          </p:cNvPr>
          <p:cNvSpPr txBox="1"/>
          <p:nvPr/>
        </p:nvSpPr>
        <p:spPr>
          <a:xfrm>
            <a:off x="7286414" y="5581868"/>
            <a:ext cx="31226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A02B93"/>
                </a:solidFill>
              </a:rPr>
              <a:t>1 personne sur 10 000 sera homozygote</a:t>
            </a:r>
            <a:endParaRPr lang="en-US" sz="2400">
              <a:solidFill>
                <a:srgbClr val="A02B93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7B969-B1DB-CC5C-8FE3-26E876DB50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06" t="15234" r="32760"/>
          <a:stretch>
            <a:fillRect/>
          </a:stretch>
        </p:blipFill>
        <p:spPr>
          <a:xfrm>
            <a:off x="6939651" y="1935410"/>
            <a:ext cx="1556425" cy="16107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5DDE32-CF45-6A69-132C-6F20969A36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250" t="11553" r="38873" b="3680"/>
          <a:stretch>
            <a:fillRect/>
          </a:stretch>
        </p:blipFill>
        <p:spPr>
          <a:xfrm>
            <a:off x="9203100" y="2004828"/>
            <a:ext cx="980176" cy="1471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C023170-8D1D-7A27-05B9-9B9410126D7D}"/>
              </a:ext>
            </a:extLst>
          </p:cNvPr>
          <p:cNvSpPr/>
          <p:nvPr/>
        </p:nvSpPr>
        <p:spPr>
          <a:xfrm>
            <a:off x="8653346" y="2004828"/>
            <a:ext cx="168890" cy="159874"/>
          </a:xfrm>
          <a:prstGeom prst="rect">
            <a:avLst/>
          </a:prstGeom>
          <a:solidFill>
            <a:srgbClr val="2463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6F183-40B0-086B-7E9D-9BC4C0256F43}"/>
              </a:ext>
            </a:extLst>
          </p:cNvPr>
          <p:cNvSpPr/>
          <p:nvPr/>
        </p:nvSpPr>
        <p:spPr>
          <a:xfrm>
            <a:off x="8653346" y="2225536"/>
            <a:ext cx="168890" cy="159874"/>
          </a:xfrm>
          <a:prstGeom prst="rect">
            <a:avLst/>
          </a:prstGeom>
          <a:solidFill>
            <a:srgbClr val="F69E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D96B75-7F00-51E4-5F56-4BE707BF09DE}"/>
              </a:ext>
            </a:extLst>
          </p:cNvPr>
          <p:cNvSpPr txBox="1"/>
          <p:nvPr/>
        </p:nvSpPr>
        <p:spPr>
          <a:xfrm>
            <a:off x="8820924" y="1930338"/>
            <a:ext cx="309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</a:t>
            </a:r>
          </a:p>
          <a:p>
            <a:r>
              <a:rPr lang="en-US" sz="1400"/>
              <a:t>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3CD92F-5767-81B8-1657-D84F86F26889}"/>
              </a:ext>
            </a:extLst>
          </p:cNvPr>
          <p:cNvSpPr/>
          <p:nvPr/>
        </p:nvSpPr>
        <p:spPr>
          <a:xfrm>
            <a:off x="10409673" y="2004828"/>
            <a:ext cx="168890" cy="159874"/>
          </a:xfrm>
          <a:prstGeom prst="rect">
            <a:avLst/>
          </a:prstGeom>
          <a:solidFill>
            <a:srgbClr val="2463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F1BEF9-016F-2D6B-8C91-45B3FAD09A8B}"/>
              </a:ext>
            </a:extLst>
          </p:cNvPr>
          <p:cNvSpPr/>
          <p:nvPr/>
        </p:nvSpPr>
        <p:spPr>
          <a:xfrm>
            <a:off x="10409673" y="2225536"/>
            <a:ext cx="168890" cy="159874"/>
          </a:xfrm>
          <a:prstGeom prst="rect">
            <a:avLst/>
          </a:prstGeom>
          <a:solidFill>
            <a:srgbClr val="8B5C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64F820-FD8F-D9C8-4D33-E38E0A1D5DE2}"/>
              </a:ext>
            </a:extLst>
          </p:cNvPr>
          <p:cNvSpPr txBox="1"/>
          <p:nvPr/>
        </p:nvSpPr>
        <p:spPr>
          <a:xfrm>
            <a:off x="10577251" y="1930338"/>
            <a:ext cx="4338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AA</a:t>
            </a:r>
          </a:p>
          <a:p>
            <a:r>
              <a:rPr lang="en-US" sz="1400"/>
              <a:t>AC</a:t>
            </a:r>
          </a:p>
          <a:p>
            <a:r>
              <a:rPr lang="en-US" sz="1400"/>
              <a:t>CC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0CA132-8BCC-D9FF-3157-85A48444FEE0}"/>
              </a:ext>
            </a:extLst>
          </p:cNvPr>
          <p:cNvSpPr/>
          <p:nvPr/>
        </p:nvSpPr>
        <p:spPr>
          <a:xfrm>
            <a:off x="10409017" y="2440807"/>
            <a:ext cx="168890" cy="159874"/>
          </a:xfrm>
          <a:prstGeom prst="rect">
            <a:avLst/>
          </a:prstGeom>
          <a:solidFill>
            <a:srgbClr val="F69E0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3AE47E-8716-BF18-B63B-E09FD9B2B887}"/>
              </a:ext>
            </a:extLst>
          </p:cNvPr>
          <p:cNvSpPr txBox="1"/>
          <p:nvPr/>
        </p:nvSpPr>
        <p:spPr>
          <a:xfrm>
            <a:off x="7286414" y="1503611"/>
            <a:ext cx="3507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Allele freq.	Genotype freq.</a:t>
            </a:r>
          </a:p>
        </p:txBody>
      </p:sp>
    </p:spTree>
    <p:extLst>
      <p:ext uri="{BB962C8B-B14F-4D97-AF65-F5344CB8AC3E}">
        <p14:creationId xmlns:p14="http://schemas.microsoft.com/office/powerpoint/2010/main" val="188790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ABCB3-DE55-FEA8-5241-57151A4B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ClinVar: https://www.ncbi.nlm.nih.gov/clinvar/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00C6-D2C5-C4E7-D496-22939C9C6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8343"/>
            <a:ext cx="11172825" cy="493453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/>
              <a:t>Un base de données de variants rares, fournis par des soumetteurs, interprétés par des généticiens cliniciens quant à leur potentiel à causer une maladie</a:t>
            </a:r>
          </a:p>
          <a:p>
            <a:pPr lvl="1">
              <a:lnSpc>
                <a:spcPct val="120000"/>
              </a:lnSpc>
            </a:pPr>
            <a:r>
              <a:rPr lang="en-US"/>
              <a:t>Sociétés professionnelles et accréditées de tests génétiques cliniques</a:t>
            </a:r>
          </a:p>
          <a:p>
            <a:pPr lvl="1">
              <a:lnSpc>
                <a:spcPct val="120000"/>
              </a:lnSpc>
            </a:pPr>
            <a:r>
              <a:rPr lang="en-US"/>
              <a:t>Chercheurs du domaine</a:t>
            </a:r>
          </a:p>
          <a:p>
            <a:pPr lvl="1">
              <a:lnSpc>
                <a:spcPct val="120000"/>
              </a:lnSpc>
            </a:pPr>
            <a:r>
              <a:rPr lang="en-US"/>
              <a:t>Conçue comme un moyen de partager des informations sur les variants avec l'ensemble du domaine</a:t>
            </a:r>
          </a:p>
          <a:p>
            <a:pPr>
              <a:lnSpc>
                <a:spcPct val="120000"/>
              </a:lnSpc>
            </a:pPr>
            <a:r>
              <a:rPr lang="en-US"/>
              <a:t>Observationnelle, avec des variants observés chez de vraies personnes ayant subi des tests génétiques cliniques ou participé à des études de recherche en génétique clinique</a:t>
            </a:r>
          </a:p>
          <a:p>
            <a:pPr>
              <a:lnSpc>
                <a:spcPct val="120000"/>
              </a:lnSpc>
            </a:pPr>
            <a:r>
              <a:rPr lang="en-US"/>
              <a:t>Classée selon les catégories d'interprétation ACMG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FF0000"/>
                </a:solidFill>
              </a:rPr>
              <a:t>Pathogène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/>
              <a:t>:</a:t>
            </a:r>
            <a:r>
              <a:rPr lang="en-US"/>
              <a:t> cause une maladie génétique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FF0000"/>
                </a:solidFill>
              </a:rPr>
              <a:t>Probablement pathogène </a:t>
            </a:r>
            <a:r>
              <a:rPr lang="en-US" b="1"/>
              <a:t>:</a:t>
            </a:r>
            <a:r>
              <a:rPr lang="en-US"/>
              <a:t> censé causer une maladie, mais certaines preuves convaincantes manquent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rgbClr val="FFC000"/>
                </a:solidFill>
              </a:rPr>
              <a:t>Variant de signification incertaine </a:t>
            </a:r>
            <a:r>
              <a:rPr lang="en-US" b="1"/>
              <a:t>:</a:t>
            </a:r>
            <a:r>
              <a:rPr lang="en-US"/>
              <a:t> répond à certains critères mais aucune décision n'a pu être prise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chemeClr val="accent6"/>
                </a:solidFill>
              </a:rPr>
              <a:t>Probablement bénin </a:t>
            </a:r>
            <a:r>
              <a:rPr lang="en-US"/>
              <a:t>: pensé ne pas causer de maladie, mais certaines preuves convaincantes manquent</a:t>
            </a:r>
          </a:p>
          <a:p>
            <a:pPr lvl="1">
              <a:lnSpc>
                <a:spcPct val="120000"/>
              </a:lnSpc>
            </a:pPr>
            <a:r>
              <a:rPr lang="en-US">
                <a:solidFill>
                  <a:schemeClr val="accent6"/>
                </a:solidFill>
              </a:rPr>
              <a:t>Bénin</a:t>
            </a:r>
            <a:r>
              <a:rPr lang="en-US"/>
              <a:t> : ne cause pas de maladie génétique</a:t>
            </a:r>
          </a:p>
        </p:txBody>
      </p:sp>
    </p:spTree>
    <p:extLst>
      <p:ext uri="{BB962C8B-B14F-4D97-AF65-F5344CB8AC3E}">
        <p14:creationId xmlns:p14="http://schemas.microsoft.com/office/powerpoint/2010/main" val="3417271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B71A-B1AF-CB09-CDE0-7127CCAE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Ressource ClinVar: page de variant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0207A1-9F1D-6352-A39E-6A5711740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352" y="2068829"/>
            <a:ext cx="2368841" cy="4028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778B68-839A-3725-A2C9-4F053538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629" y="1689648"/>
            <a:ext cx="5939399" cy="44073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B1ED8A-E2AC-C9CE-DE63-F5C835E77A09}"/>
              </a:ext>
            </a:extLst>
          </p:cNvPr>
          <p:cNvCxnSpPr/>
          <p:nvPr/>
        </p:nvCxnSpPr>
        <p:spPr>
          <a:xfrm flipV="1">
            <a:off x="3379193" y="1690688"/>
            <a:ext cx="918487" cy="3189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D99664-9883-57F2-D8C9-E2DD246551AB}"/>
              </a:ext>
            </a:extLst>
          </p:cNvPr>
          <p:cNvCxnSpPr/>
          <p:nvPr/>
        </p:nvCxnSpPr>
        <p:spPr>
          <a:xfrm>
            <a:off x="3379193" y="5372100"/>
            <a:ext cx="1044217" cy="724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82505E-AF09-B599-C81E-8112D5A254C6}"/>
              </a:ext>
            </a:extLst>
          </p:cNvPr>
          <p:cNvSpPr txBox="1"/>
          <p:nvPr/>
        </p:nvSpPr>
        <p:spPr>
          <a:xfrm>
            <a:off x="8215313" y="6354375"/>
            <a:ext cx="6097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https://www.ncbi.nlm.nih.gov/clinvar/variation/37646/</a:t>
            </a:r>
          </a:p>
        </p:txBody>
      </p:sp>
    </p:spTree>
    <p:extLst>
      <p:ext uri="{BB962C8B-B14F-4D97-AF65-F5344CB8AC3E}">
        <p14:creationId xmlns:p14="http://schemas.microsoft.com/office/powerpoint/2010/main" val="4216349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8C89-1467-39BD-63F3-9D2DC8D2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gnomAD: GeNOMe Aggregation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C5025-0660-DFCF-4F0A-0FEAE8C42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Environ 800 000 personnes, majoritairement en bonne santé (sans maladie monogénique rare connue)</a:t>
            </a:r>
          </a:p>
          <a:p>
            <a:r>
              <a:rPr lang="en-US" sz="2400"/>
              <a:t>Enrichie en ascendance européenne, mais comprend plusieurs milliers d'individus de populations africaines, sud-asiatiques, est-asiatiques, américaines admixées (Amérique du Sud et latino-américaines) et moyen-orientales</a:t>
            </a:r>
          </a:p>
          <a:p>
            <a:pPr lvl="1"/>
            <a:r>
              <a:rPr lang="en-US" sz="2000"/>
              <a:t>Assemblée de manière opportuniste à partir de génomes séquencés pour d'autres études génétiques, traitée conjointement et présentée sous forme de statistiques sommaires</a:t>
            </a:r>
          </a:p>
          <a:p>
            <a:r>
              <a:rPr lang="en-US" sz="2400">
                <a:hlinkClick r:id="rId3"/>
              </a:rPr>
              <a:t>https://gnomad.broadinstitute.org/</a:t>
            </a:r>
            <a:r>
              <a:rPr lang="en-US" sz="240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B0B3F-9394-4BDE-13CD-842AA2C94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187" y="4876066"/>
            <a:ext cx="5027613" cy="161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68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4530-FF7A-89BA-DC9C-9E24E3F1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gnomAD ressource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73369-BBDD-C25A-F6E9-156F64779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988" y="1925638"/>
            <a:ext cx="5310310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1FFC3B-2B33-2DD3-D409-8B29A0617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5638"/>
            <a:ext cx="5527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46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6E29-AE61-988E-6855-00D42A92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solidFill>
                  <a:schemeClr val="accent1"/>
                </a:solidFill>
              </a:rPr>
              <a:t>Annotation des variants : comment savoir si un variant est fonctionnel</a:t>
            </a:r>
            <a:endParaRPr lang="en-US" sz="3600">
              <a:solidFill>
                <a:schemeClr val="accent1"/>
              </a:solidFill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F63085-E9BF-202A-A9F0-614E9B25688E}"/>
              </a:ext>
            </a:extLst>
          </p:cNvPr>
          <p:cNvSpPr/>
          <p:nvPr/>
        </p:nvSpPr>
        <p:spPr>
          <a:xfrm>
            <a:off x="683315" y="3959140"/>
            <a:ext cx="10346635" cy="106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678F1F-BC4A-ED75-DEE3-4975938DC1D9}"/>
              </a:ext>
            </a:extLst>
          </p:cNvPr>
          <p:cNvSpPr/>
          <p:nvPr/>
        </p:nvSpPr>
        <p:spPr>
          <a:xfrm>
            <a:off x="1332672" y="3727227"/>
            <a:ext cx="1709530" cy="530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exon1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600AD-7B5C-167D-2FB3-CE437DF10FC3}"/>
              </a:ext>
            </a:extLst>
          </p:cNvPr>
          <p:cNvSpPr/>
          <p:nvPr/>
        </p:nvSpPr>
        <p:spPr>
          <a:xfrm>
            <a:off x="4254777" y="3727227"/>
            <a:ext cx="1709530" cy="530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exon2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596054-9DFE-A1F1-D9C8-C5B01020651B}"/>
              </a:ext>
            </a:extLst>
          </p:cNvPr>
          <p:cNvSpPr/>
          <p:nvPr/>
        </p:nvSpPr>
        <p:spPr>
          <a:xfrm>
            <a:off x="7176881" y="3727227"/>
            <a:ext cx="2292625" cy="530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exon3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88F3C-315E-31F4-A5E5-36378C749D7F}"/>
              </a:ext>
            </a:extLst>
          </p:cNvPr>
          <p:cNvSpPr txBox="1"/>
          <p:nvPr/>
        </p:nvSpPr>
        <p:spPr>
          <a:xfrm>
            <a:off x="2710027" y="3456854"/>
            <a:ext cx="666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AG | GT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1EA011-2C43-FB64-9CEA-8F10EF28ED66}"/>
              </a:ext>
            </a:extLst>
          </p:cNvPr>
          <p:cNvSpPr txBox="1"/>
          <p:nvPr/>
        </p:nvSpPr>
        <p:spPr>
          <a:xfrm>
            <a:off x="3909439" y="3456854"/>
            <a:ext cx="666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AG | GT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608C0-4C45-B034-96D0-C8D4D204A6D9}"/>
              </a:ext>
            </a:extLst>
          </p:cNvPr>
          <p:cNvSpPr txBox="1"/>
          <p:nvPr/>
        </p:nvSpPr>
        <p:spPr>
          <a:xfrm>
            <a:off x="5632132" y="3456854"/>
            <a:ext cx="666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AG | GT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E22D35-21CA-73A4-D943-C69B6AEFA2B3}"/>
              </a:ext>
            </a:extLst>
          </p:cNvPr>
          <p:cNvSpPr txBox="1"/>
          <p:nvPr/>
        </p:nvSpPr>
        <p:spPr>
          <a:xfrm>
            <a:off x="6844706" y="3456854"/>
            <a:ext cx="666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AG | GT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B6228-6874-03FC-8C8E-239093489695}"/>
              </a:ext>
            </a:extLst>
          </p:cNvPr>
          <p:cNvSpPr txBox="1"/>
          <p:nvPr/>
        </p:nvSpPr>
        <p:spPr>
          <a:xfrm>
            <a:off x="889114" y="3466594"/>
            <a:ext cx="940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AUG/START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FE680-6425-B305-87EC-8F2AB6A106EE}"/>
              </a:ext>
            </a:extLst>
          </p:cNvPr>
          <p:cNvSpPr txBox="1"/>
          <p:nvPr/>
        </p:nvSpPr>
        <p:spPr>
          <a:xfrm>
            <a:off x="9025121" y="3411120"/>
            <a:ext cx="854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TGA/STOP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BDBB5-2865-ECEE-2C9C-4445AAA5FC35}"/>
              </a:ext>
            </a:extLst>
          </p:cNvPr>
          <p:cNvSpPr txBox="1"/>
          <p:nvPr/>
        </p:nvSpPr>
        <p:spPr>
          <a:xfrm>
            <a:off x="4409515" y="4658192"/>
            <a:ext cx="1808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…A CTG TAC T…</a:t>
            </a:r>
          </a:p>
          <a:p>
            <a:r>
              <a:rPr lang="en-US"/>
              <a:t>…A CTG </a:t>
            </a:r>
            <a:r>
              <a:rPr lang="en-US" b="1"/>
              <a:t>T</a:t>
            </a:r>
            <a:r>
              <a:rPr lang="en-US" b="1">
                <a:solidFill>
                  <a:schemeClr val="tx2"/>
                </a:solidFill>
              </a:rPr>
              <a:t>A</a:t>
            </a:r>
            <a:r>
              <a:rPr lang="en-US" b="1">
                <a:solidFill>
                  <a:srgbClr val="FF0000"/>
                </a:solidFill>
              </a:rPr>
              <a:t>G</a:t>
            </a:r>
            <a:r>
              <a:rPr lang="en-US" b="1">
                <a:solidFill>
                  <a:schemeClr val="accent5"/>
                </a:solidFill>
              </a:rPr>
              <a:t> </a:t>
            </a:r>
            <a:r>
              <a:rPr lang="en-US"/>
              <a:t>T…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049DBD-3384-DD1A-575B-70E7CB893DF2}"/>
              </a:ext>
            </a:extLst>
          </p:cNvPr>
          <p:cNvCxnSpPr>
            <a:cxnSpLocks/>
          </p:cNvCxnSpPr>
          <p:nvPr/>
        </p:nvCxnSpPr>
        <p:spPr>
          <a:xfrm>
            <a:off x="5442843" y="4285681"/>
            <a:ext cx="0" cy="191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BE7EE5-2204-3568-4EBA-4C678F1E4F32}"/>
              </a:ext>
            </a:extLst>
          </p:cNvPr>
          <p:cNvCxnSpPr>
            <a:cxnSpLocks/>
          </p:cNvCxnSpPr>
          <p:nvPr/>
        </p:nvCxnSpPr>
        <p:spPr>
          <a:xfrm>
            <a:off x="5507938" y="4285681"/>
            <a:ext cx="0" cy="191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76E3D0-F6DC-8FB9-BE47-1D10B729D88E}"/>
              </a:ext>
            </a:extLst>
          </p:cNvPr>
          <p:cNvCxnSpPr/>
          <p:nvPr/>
        </p:nvCxnSpPr>
        <p:spPr>
          <a:xfrm flipH="1">
            <a:off x="4758192" y="4482434"/>
            <a:ext cx="684651" cy="2159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16FFF3-5F14-1246-016E-2D1A60DC2AF4}"/>
              </a:ext>
            </a:extLst>
          </p:cNvPr>
          <p:cNvCxnSpPr/>
          <p:nvPr/>
        </p:nvCxnSpPr>
        <p:spPr>
          <a:xfrm>
            <a:off x="5507938" y="4482434"/>
            <a:ext cx="456368" cy="2159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5F9CCD3-563E-3098-3779-4E6130EC143B}"/>
              </a:ext>
            </a:extLst>
          </p:cNvPr>
          <p:cNvSpPr txBox="1"/>
          <p:nvPr/>
        </p:nvSpPr>
        <p:spPr>
          <a:xfrm>
            <a:off x="6137550" y="4875565"/>
            <a:ext cx="2066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variant stop-gain ou non-sens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9AFCA5-0E1A-ACAC-16E5-B5E2C0E83871}"/>
              </a:ext>
            </a:extLst>
          </p:cNvPr>
          <p:cNvSpPr txBox="1"/>
          <p:nvPr/>
        </p:nvSpPr>
        <p:spPr>
          <a:xfrm>
            <a:off x="848782" y="4845532"/>
            <a:ext cx="1961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…A CAA GTC T…</a:t>
            </a:r>
          </a:p>
          <a:p>
            <a:r>
              <a:rPr lang="en-US"/>
              <a:t>…A CAA </a:t>
            </a: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/>
              <a:t>GT CT</a:t>
            </a:r>
            <a:r>
              <a:rPr lang="en-US"/>
              <a:t>…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8D2C6B-5696-2C29-1B45-F490E7DF3CF3}"/>
              </a:ext>
            </a:extLst>
          </p:cNvPr>
          <p:cNvCxnSpPr>
            <a:cxnSpLocks/>
          </p:cNvCxnSpPr>
          <p:nvPr/>
        </p:nvCxnSpPr>
        <p:spPr>
          <a:xfrm>
            <a:off x="2348513" y="4285681"/>
            <a:ext cx="0" cy="299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E18AE6C-26E3-77FC-820A-B9B7FC4CF33E}"/>
              </a:ext>
            </a:extLst>
          </p:cNvPr>
          <p:cNvCxnSpPr>
            <a:cxnSpLocks/>
          </p:cNvCxnSpPr>
          <p:nvPr/>
        </p:nvCxnSpPr>
        <p:spPr>
          <a:xfrm>
            <a:off x="2433361" y="4285681"/>
            <a:ext cx="0" cy="299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ABD9A9-23AF-0CC6-CD00-B3FC2A35C242}"/>
              </a:ext>
            </a:extLst>
          </p:cNvPr>
          <p:cNvCxnSpPr>
            <a:cxnSpLocks/>
          </p:cNvCxnSpPr>
          <p:nvPr/>
        </p:nvCxnSpPr>
        <p:spPr>
          <a:xfrm flipH="1">
            <a:off x="1207916" y="4590416"/>
            <a:ext cx="1140597" cy="302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7498842-D3C7-EB73-4E33-DB2C613451AA}"/>
              </a:ext>
            </a:extLst>
          </p:cNvPr>
          <p:cNvCxnSpPr/>
          <p:nvPr/>
        </p:nvCxnSpPr>
        <p:spPr>
          <a:xfrm flipH="1">
            <a:off x="2348513" y="4590416"/>
            <a:ext cx="84848" cy="302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19DC85D-8FAB-C948-7E5A-1CE878BB1571}"/>
              </a:ext>
            </a:extLst>
          </p:cNvPr>
          <p:cNvSpPr txBox="1"/>
          <p:nvPr/>
        </p:nvSpPr>
        <p:spPr>
          <a:xfrm>
            <a:off x="2594043" y="5756915"/>
            <a:ext cx="2147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…T GT</a:t>
            </a:r>
            <a:r>
              <a:rPr lang="en-US" b="1"/>
              <a:t>A G|gt</a:t>
            </a:r>
            <a:r>
              <a:rPr lang="en-US"/>
              <a:t>tgaat…</a:t>
            </a:r>
          </a:p>
          <a:p>
            <a:r>
              <a:rPr lang="en-US"/>
              <a:t>…T GT</a:t>
            </a:r>
            <a:r>
              <a:rPr lang="en-US" b="1"/>
              <a:t>A </a:t>
            </a:r>
            <a:r>
              <a:rPr lang="en-US" b="1">
                <a:solidFill>
                  <a:srgbClr val="FF0000"/>
                </a:solidFill>
              </a:rPr>
              <a:t>C</a:t>
            </a:r>
            <a:r>
              <a:rPr lang="en-US" b="1"/>
              <a:t>|gt</a:t>
            </a:r>
            <a:r>
              <a:rPr lang="en-US"/>
              <a:t>tgaat…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F91B1C-372F-B989-5D5F-CAAAC0A804E2}"/>
              </a:ext>
            </a:extLst>
          </p:cNvPr>
          <p:cNvCxnSpPr>
            <a:cxnSpLocks/>
          </p:cNvCxnSpPr>
          <p:nvPr/>
        </p:nvCxnSpPr>
        <p:spPr>
          <a:xfrm>
            <a:off x="3042201" y="4285681"/>
            <a:ext cx="0" cy="10140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497A13-4FDA-153D-6919-F87AB636C747}"/>
              </a:ext>
            </a:extLst>
          </p:cNvPr>
          <p:cNvCxnSpPr>
            <a:cxnSpLocks/>
          </p:cNvCxnSpPr>
          <p:nvPr/>
        </p:nvCxnSpPr>
        <p:spPr>
          <a:xfrm>
            <a:off x="3088724" y="4285681"/>
            <a:ext cx="0" cy="10140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8B5751-FD55-AAF4-B74C-4CE972D336B0}"/>
              </a:ext>
            </a:extLst>
          </p:cNvPr>
          <p:cNvCxnSpPr/>
          <p:nvPr/>
        </p:nvCxnSpPr>
        <p:spPr>
          <a:xfrm flipH="1">
            <a:off x="2761047" y="5304523"/>
            <a:ext cx="281154" cy="511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B5A416-1C60-88B9-9EFA-7D95845FF7F5}"/>
              </a:ext>
            </a:extLst>
          </p:cNvPr>
          <p:cNvCxnSpPr/>
          <p:nvPr/>
        </p:nvCxnSpPr>
        <p:spPr>
          <a:xfrm>
            <a:off x="3088724" y="5304523"/>
            <a:ext cx="1320791" cy="511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5CD489-81CA-0FD8-C701-84D58FBABDC7}"/>
              </a:ext>
            </a:extLst>
          </p:cNvPr>
          <p:cNvSpPr txBox="1"/>
          <p:nvPr/>
        </p:nvSpPr>
        <p:spPr>
          <a:xfrm>
            <a:off x="4614471" y="6009138"/>
            <a:ext cx="1808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site d'épissage canonique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E319DF-20F6-84D2-84BE-712DF6AD1D03}"/>
              </a:ext>
            </a:extLst>
          </p:cNvPr>
          <p:cNvSpPr txBox="1"/>
          <p:nvPr/>
        </p:nvSpPr>
        <p:spPr>
          <a:xfrm>
            <a:off x="472155" y="5491863"/>
            <a:ext cx="1856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décalage du cadre de lecture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2F9B34-B4C5-25FD-BA51-B3A9CB2B2C39}"/>
              </a:ext>
            </a:extLst>
          </p:cNvPr>
          <p:cNvSpPr txBox="1"/>
          <p:nvPr/>
        </p:nvSpPr>
        <p:spPr>
          <a:xfrm>
            <a:off x="3131853" y="2378519"/>
            <a:ext cx="304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…G TGT CAC T… (p..CysHis..)</a:t>
            </a:r>
          </a:p>
          <a:p>
            <a:r>
              <a:rPr lang="en-US"/>
              <a:t>…G </a:t>
            </a:r>
            <a:r>
              <a:rPr lang="en-US" b="1"/>
              <a:t>TG</a:t>
            </a:r>
            <a:r>
              <a:rPr lang="en-US" b="1">
                <a:solidFill>
                  <a:srgbClr val="FF0000"/>
                </a:solidFill>
              </a:rPr>
              <a:t>G</a:t>
            </a:r>
            <a:r>
              <a:rPr lang="en-US"/>
              <a:t> CAC T… (p..TrpHis..)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F76899-F1DA-1A48-8275-980C62B1CEC1}"/>
              </a:ext>
            </a:extLst>
          </p:cNvPr>
          <p:cNvSpPr txBox="1"/>
          <p:nvPr/>
        </p:nvSpPr>
        <p:spPr>
          <a:xfrm>
            <a:off x="1280023" y="2511271"/>
            <a:ext cx="196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Variant faux-sens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528CDAB-D259-131C-2F58-BD9A48AD0CC3}"/>
              </a:ext>
            </a:extLst>
          </p:cNvPr>
          <p:cNvCxnSpPr>
            <a:cxnSpLocks/>
          </p:cNvCxnSpPr>
          <p:nvPr/>
        </p:nvCxnSpPr>
        <p:spPr>
          <a:xfrm flipV="1">
            <a:off x="4741169" y="3351038"/>
            <a:ext cx="0" cy="337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8CD4037-94C4-99C5-FA65-8FA75200DC00}"/>
              </a:ext>
            </a:extLst>
          </p:cNvPr>
          <p:cNvCxnSpPr>
            <a:cxnSpLocks/>
          </p:cNvCxnSpPr>
          <p:nvPr/>
        </p:nvCxnSpPr>
        <p:spPr>
          <a:xfrm flipV="1">
            <a:off x="4810240" y="3351038"/>
            <a:ext cx="0" cy="337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1890E82-EFF9-6F53-DB87-D959167E7880}"/>
              </a:ext>
            </a:extLst>
          </p:cNvPr>
          <p:cNvCxnSpPr/>
          <p:nvPr/>
        </p:nvCxnSpPr>
        <p:spPr>
          <a:xfrm flipH="1" flipV="1">
            <a:off x="3649339" y="2981915"/>
            <a:ext cx="1091830" cy="369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2633697-1032-2F97-6C67-558782E8C03C}"/>
              </a:ext>
            </a:extLst>
          </p:cNvPr>
          <p:cNvCxnSpPr/>
          <p:nvPr/>
        </p:nvCxnSpPr>
        <p:spPr>
          <a:xfrm flipV="1">
            <a:off x="4810240" y="2981915"/>
            <a:ext cx="202607" cy="369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2FA4ADB-B11C-CF53-997A-13F6CA883355}"/>
              </a:ext>
            </a:extLst>
          </p:cNvPr>
          <p:cNvSpPr txBox="1"/>
          <p:nvPr/>
        </p:nvSpPr>
        <p:spPr>
          <a:xfrm>
            <a:off x="8230747" y="2360802"/>
            <a:ext cx="312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…G CGA CAA T… (p..ArgGln..)</a:t>
            </a:r>
          </a:p>
          <a:p>
            <a:r>
              <a:rPr lang="en-US"/>
              <a:t>…G </a:t>
            </a:r>
            <a:r>
              <a:rPr lang="en-US" b="1"/>
              <a:t>CG</a:t>
            </a:r>
            <a:r>
              <a:rPr lang="en-US" b="1">
                <a:solidFill>
                  <a:srgbClr val="FF0000"/>
                </a:solidFill>
              </a:rPr>
              <a:t>G</a:t>
            </a:r>
            <a:r>
              <a:rPr lang="en-US"/>
              <a:t> CAA T… (p..ArgGln..)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461766-B4ED-8B68-1310-63DF28B8D971}"/>
              </a:ext>
            </a:extLst>
          </p:cNvPr>
          <p:cNvSpPr txBox="1"/>
          <p:nvPr/>
        </p:nvSpPr>
        <p:spPr>
          <a:xfrm>
            <a:off x="7838319" y="1940697"/>
            <a:ext cx="2193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variant synonyme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7469DF-969A-3BC5-BBFD-65485AB27E63}"/>
              </a:ext>
            </a:extLst>
          </p:cNvPr>
          <p:cNvCxnSpPr>
            <a:cxnSpLocks/>
          </p:cNvCxnSpPr>
          <p:nvPr/>
        </p:nvCxnSpPr>
        <p:spPr>
          <a:xfrm flipV="1">
            <a:off x="6347780" y="2310029"/>
            <a:ext cx="0" cy="16095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D880D08-4D72-45A1-0510-ED724B67D461}"/>
              </a:ext>
            </a:extLst>
          </p:cNvPr>
          <p:cNvCxnSpPr>
            <a:cxnSpLocks/>
          </p:cNvCxnSpPr>
          <p:nvPr/>
        </p:nvCxnSpPr>
        <p:spPr>
          <a:xfrm flipV="1">
            <a:off x="6400862" y="2310029"/>
            <a:ext cx="0" cy="16095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3B9A1CB-053F-8623-D91D-D4E0DCA68F72}"/>
              </a:ext>
            </a:extLst>
          </p:cNvPr>
          <p:cNvSpPr txBox="1"/>
          <p:nvPr/>
        </p:nvSpPr>
        <p:spPr>
          <a:xfrm>
            <a:off x="5632132" y="1525108"/>
            <a:ext cx="1398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…acagaga…</a:t>
            </a:r>
          </a:p>
          <a:p>
            <a:r>
              <a:rPr lang="en-US"/>
              <a:t>…ac</a:t>
            </a:r>
            <a:r>
              <a:rPr lang="en-US" b="1">
                <a:solidFill>
                  <a:srgbClr val="FF0000"/>
                </a:solidFill>
              </a:rPr>
              <a:t>c</a:t>
            </a:r>
            <a:r>
              <a:rPr lang="en-US"/>
              <a:t>gaga…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4972C2F-4F8F-8AB6-E353-5A1BD5F23AD6}"/>
              </a:ext>
            </a:extLst>
          </p:cNvPr>
          <p:cNvCxnSpPr/>
          <p:nvPr/>
        </p:nvCxnSpPr>
        <p:spPr>
          <a:xfrm flipH="1" flipV="1">
            <a:off x="5982800" y="2125363"/>
            <a:ext cx="364980" cy="184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7452CDC-7FA0-5D8A-C990-14535FA6664F}"/>
              </a:ext>
            </a:extLst>
          </p:cNvPr>
          <p:cNvCxnSpPr/>
          <p:nvPr/>
        </p:nvCxnSpPr>
        <p:spPr>
          <a:xfrm flipV="1">
            <a:off x="6400862" y="2125363"/>
            <a:ext cx="326631" cy="184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E17C6B5-FDC7-3774-28C1-0D93812DE643}"/>
              </a:ext>
            </a:extLst>
          </p:cNvPr>
          <p:cNvSpPr txBox="1"/>
          <p:nvPr/>
        </p:nvSpPr>
        <p:spPr>
          <a:xfrm>
            <a:off x="3586699" y="1682999"/>
            <a:ext cx="200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Variant intronique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0E8D574-3191-B6BF-D4AE-CCAAB04A0449}"/>
              </a:ext>
            </a:extLst>
          </p:cNvPr>
          <p:cNvCxnSpPr>
            <a:cxnSpLocks/>
          </p:cNvCxnSpPr>
          <p:nvPr/>
        </p:nvCxnSpPr>
        <p:spPr>
          <a:xfrm flipV="1">
            <a:off x="8688821" y="3351038"/>
            <a:ext cx="0" cy="337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E593C2E-A47A-6AD3-B7FB-B6420EB00128}"/>
              </a:ext>
            </a:extLst>
          </p:cNvPr>
          <p:cNvCxnSpPr>
            <a:cxnSpLocks/>
          </p:cNvCxnSpPr>
          <p:nvPr/>
        </p:nvCxnSpPr>
        <p:spPr>
          <a:xfrm flipV="1">
            <a:off x="8757892" y="3351038"/>
            <a:ext cx="0" cy="3370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EBC630D-342D-9CAC-03E4-FB2E34EE78AE}"/>
              </a:ext>
            </a:extLst>
          </p:cNvPr>
          <p:cNvCxnSpPr/>
          <p:nvPr/>
        </p:nvCxnSpPr>
        <p:spPr>
          <a:xfrm flipH="1" flipV="1">
            <a:off x="8396079" y="2981915"/>
            <a:ext cx="292742" cy="369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A8905EC-30AD-D097-7468-54B1B1E988E7}"/>
              </a:ext>
            </a:extLst>
          </p:cNvPr>
          <p:cNvCxnSpPr/>
          <p:nvPr/>
        </p:nvCxnSpPr>
        <p:spPr>
          <a:xfrm flipV="1">
            <a:off x="8757892" y="2981915"/>
            <a:ext cx="976658" cy="369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653F665-B050-EB5F-41A9-481DD68E135E}"/>
              </a:ext>
            </a:extLst>
          </p:cNvPr>
          <p:cNvSpPr txBox="1"/>
          <p:nvPr/>
        </p:nvSpPr>
        <p:spPr>
          <a:xfrm>
            <a:off x="8491737" y="4865416"/>
            <a:ext cx="1955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…GTA CTG GTG…</a:t>
            </a:r>
          </a:p>
          <a:p>
            <a:r>
              <a:rPr lang="en-US"/>
              <a:t>…GTA C</a:t>
            </a: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/>
              <a:t>G</a:t>
            </a:r>
            <a:r>
              <a:rPr lang="en-US"/>
              <a:t> GTG…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2554FD3-17C5-987E-BA6A-EFE1DF2996B4}"/>
              </a:ext>
            </a:extLst>
          </p:cNvPr>
          <p:cNvSpPr txBox="1"/>
          <p:nvPr/>
        </p:nvSpPr>
        <p:spPr>
          <a:xfrm>
            <a:off x="9039561" y="5552799"/>
            <a:ext cx="2474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variants d'épissage cryptique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7C2D317-7EF3-94A7-32D3-3D01E9991F81}"/>
              </a:ext>
            </a:extLst>
          </p:cNvPr>
          <p:cNvCxnSpPr>
            <a:cxnSpLocks/>
          </p:cNvCxnSpPr>
          <p:nvPr/>
        </p:nvCxnSpPr>
        <p:spPr>
          <a:xfrm>
            <a:off x="8542450" y="4285681"/>
            <a:ext cx="0" cy="299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9F30DD3-381E-99F4-63C3-E981164A1494}"/>
              </a:ext>
            </a:extLst>
          </p:cNvPr>
          <p:cNvCxnSpPr>
            <a:cxnSpLocks/>
          </p:cNvCxnSpPr>
          <p:nvPr/>
        </p:nvCxnSpPr>
        <p:spPr>
          <a:xfrm>
            <a:off x="8601075" y="4285681"/>
            <a:ext cx="0" cy="2999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D2FD17E-651D-A4B9-97D1-69D0C574EEE6}"/>
              </a:ext>
            </a:extLst>
          </p:cNvPr>
          <p:cNvCxnSpPr>
            <a:cxnSpLocks/>
          </p:cNvCxnSpPr>
          <p:nvPr/>
        </p:nvCxnSpPr>
        <p:spPr>
          <a:xfrm>
            <a:off x="8593769" y="4590416"/>
            <a:ext cx="1531398" cy="302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4ED29A8-53E8-C321-9D95-E6B89B4B1ACF}"/>
              </a:ext>
            </a:extLst>
          </p:cNvPr>
          <p:cNvCxnSpPr/>
          <p:nvPr/>
        </p:nvCxnSpPr>
        <p:spPr>
          <a:xfrm>
            <a:off x="8542450" y="4585653"/>
            <a:ext cx="180046" cy="3636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B6FF680-2C62-783A-D040-E8BF203FD164}"/>
              </a:ext>
            </a:extLst>
          </p:cNvPr>
          <p:cNvSpPr txBox="1"/>
          <p:nvPr/>
        </p:nvSpPr>
        <p:spPr>
          <a:xfrm>
            <a:off x="11197640" y="1446361"/>
            <a:ext cx="9473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ÉLEVÉ</a:t>
            </a:r>
          </a:p>
          <a:p>
            <a:r>
              <a:rPr lang="en-US"/>
              <a:t>MOYEN</a:t>
            </a:r>
          </a:p>
          <a:p>
            <a:r>
              <a:rPr lang="en-US"/>
              <a:t>FAIBLE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16D7130-DE90-594E-25CC-6401CB3AC0A9}"/>
              </a:ext>
            </a:extLst>
          </p:cNvPr>
          <p:cNvSpPr/>
          <p:nvPr/>
        </p:nvSpPr>
        <p:spPr>
          <a:xfrm>
            <a:off x="11016487" y="1525108"/>
            <a:ext cx="225936" cy="2066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FD4D976-8FF8-56D0-707B-0942BFF3BE37}"/>
              </a:ext>
            </a:extLst>
          </p:cNvPr>
          <p:cNvSpPr/>
          <p:nvPr/>
        </p:nvSpPr>
        <p:spPr>
          <a:xfrm>
            <a:off x="11016487" y="1796616"/>
            <a:ext cx="225936" cy="2066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4C7FC0-775C-A855-FDEC-18222F951E45}"/>
              </a:ext>
            </a:extLst>
          </p:cNvPr>
          <p:cNvSpPr/>
          <p:nvPr/>
        </p:nvSpPr>
        <p:spPr>
          <a:xfrm>
            <a:off x="11016487" y="2068123"/>
            <a:ext cx="225936" cy="20663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6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E8F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E8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4" grpId="0"/>
      <p:bldP spid="47" grpId="0"/>
      <p:bldP spid="56" grpId="0"/>
      <p:bldP spid="71" grpId="0"/>
      <p:bldP spid="8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0D66-11D6-7C73-2EF8-829FDB17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Annotation des variants : comment savoir si un variant est fonctionnel // PERTE DE FONCTION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60586-3EE6-19B1-F9A1-64413D29E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Les variants avec perte de fonction prédite (pLOF) incluent les délétions, les variants stop-gain, les décalages du cadre de lecture et les perturbations du site d'épissage canonique</a:t>
            </a:r>
          </a:p>
          <a:p>
            <a:r>
              <a:rPr lang="en-US" sz="2100"/>
              <a:t>Les variants ayant ces conséquences sont censés empêcher complètement le gène de produire son produit génique fonctionnel</a:t>
            </a:r>
          </a:p>
          <a:p>
            <a:r>
              <a:rPr lang="en-US" sz="2100"/>
              <a:t>Ceux-ci sont considérés comme ayant un impact très élevé et seront presque toujours des « variants qualifiés » lorsque vous souhaitez évaluer si une fonction génique perturbée est associée à des résultats biologiques ou cliniques</a:t>
            </a:r>
          </a:p>
        </p:txBody>
      </p:sp>
      <p:pic>
        <p:nvPicPr>
          <p:cNvPr id="5" name="Picture 4" descr="KO cell lines were confirmed by western blot. (a) Western blots of... |  Download Scientific Diagram">
            <a:extLst>
              <a:ext uri="{FF2B5EF4-FFF2-40B4-BE49-F238E27FC236}">
                <a16:creationId xmlns:a16="http://schemas.microsoft.com/office/drawing/2014/main" id="{4DBFA4BA-048A-C107-2770-87368A2C5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06" y="4639344"/>
            <a:ext cx="2458773" cy="1783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6F119-43AA-134D-E877-696FD7859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374" y="4639344"/>
            <a:ext cx="2847340" cy="1532255"/>
          </a:xfrm>
          <a:prstGeom prst="rect">
            <a:avLst/>
          </a:prstGeom>
        </p:spPr>
      </p:pic>
      <p:pic>
        <p:nvPicPr>
          <p:cNvPr id="10" name="Picture 9" descr="Sanger sequencing chromatograms showing the c.474‐478dupGTCTT variant... |  Download Scientific Diagram">
            <a:extLst>
              <a:ext uri="{FF2B5EF4-FFF2-40B4-BE49-F238E27FC236}">
                <a16:creationId xmlns:a16="http://schemas.microsoft.com/office/drawing/2014/main" id="{5D510421-3404-0244-24EC-9AC04582B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486" y="4614528"/>
            <a:ext cx="2423795" cy="1757714"/>
          </a:xfrm>
          <a:prstGeom prst="rect">
            <a:avLst/>
          </a:prstGeom>
        </p:spPr>
      </p:pic>
      <p:pic>
        <p:nvPicPr>
          <p:cNvPr id="11" name="Picture 10" descr="IL-12 drives the differentiation of human T follicular regulatory cells |  Science Immunology">
            <a:extLst>
              <a:ext uri="{FF2B5EF4-FFF2-40B4-BE49-F238E27FC236}">
                <a16:creationId xmlns:a16="http://schemas.microsoft.com/office/drawing/2014/main" id="{DC79EC7F-220C-581B-64FF-7E1F964F1E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9792" r="75571"/>
          <a:stretch>
            <a:fillRect/>
          </a:stretch>
        </p:blipFill>
        <p:spPr>
          <a:xfrm>
            <a:off x="3533072" y="4664710"/>
            <a:ext cx="1024174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33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F793E-C3AF-7DBD-2915-C3D351EDB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SpliceAI</a:t>
            </a:r>
          </a:p>
          <a:p>
            <a:r>
              <a:rPr lang="en-US" sz="2200"/>
              <a:t>Calcule la différence d'affinité et de reconnaissance prédites du spliceosome entre la séquence de référence et la séquence variante ; une grande différence devrait entraîner le variant supplantant la séquence de reference</a:t>
            </a:r>
          </a:p>
          <a:p>
            <a:pPr lvl="1"/>
            <a:r>
              <a:rPr lang="en-US" sz="2000"/>
              <a:t>Un variant qui supplante la séquence de référence peut entraîner un saut d'exon, une troncature d'exon, une rétention d'intron, ou l'inclusion d'un pseudoexon</a:t>
            </a:r>
          </a:p>
          <a:p>
            <a:pPr lvl="1"/>
            <a:r>
              <a:rPr lang="en-US" sz="2000"/>
              <a:t>Chacun de ces effets est considéré aussi grave qu'un variant pLOF, même s'il n'est pas canonique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C9E40D-2AED-D5EC-889F-3C739E00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Annotation des variants : comment savoir si un variant est fonctionnel // SITE D'ÉPISSAGE</a:t>
            </a:r>
            <a:endParaRPr lang="en-US" sz="4000">
              <a:solidFill>
                <a:schemeClr val="accent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1FDE3-D3B0-8F27-C382-993A81D2CE55}"/>
              </a:ext>
            </a:extLst>
          </p:cNvPr>
          <p:cNvSpPr txBox="1"/>
          <p:nvPr/>
        </p:nvSpPr>
        <p:spPr>
          <a:xfrm>
            <a:off x="414728" y="6031210"/>
            <a:ext cx="11362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>
                <a:solidFill>
                  <a:schemeClr val="tx1"/>
                </a:solidFill>
                <a:effectLst/>
                <a:latin typeface="+mn-lt"/>
              </a:rPr>
              <a:t>Jaganathan K et al. Predicting Splicing from Primary Sequence with Deep Learning. Cell. 2019 Jan 24;176(3):535-548.e24. doi: 10.1016/j.cell.2018.12.015. Epub 2019 Jan 17. PMID: 30661751</a:t>
            </a:r>
            <a:r>
              <a:rPr lang="en-US" sz="1200"/>
              <a:t>. </a:t>
            </a:r>
            <a:r>
              <a:rPr lang="en-US" sz="1200">
                <a:hlinkClick r:id="rId2"/>
              </a:rPr>
              <a:t>https://pubmed.ncbi.nlm.nih.gov/30661751/</a:t>
            </a:r>
            <a:r>
              <a:rPr lang="en-US" sz="1200"/>
              <a:t> </a:t>
            </a:r>
          </a:p>
        </p:txBody>
      </p:sp>
      <p:pic>
        <p:nvPicPr>
          <p:cNvPr id="7" name="Picture 6" descr="Graphical abstract undfig1">
            <a:extLst>
              <a:ext uri="{FF2B5EF4-FFF2-40B4-BE49-F238E27FC236}">
                <a16:creationId xmlns:a16="http://schemas.microsoft.com/office/drawing/2014/main" id="{AC1009E2-EC90-4B9B-9F20-821BD200B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58" b="31696"/>
          <a:stretch>
            <a:fillRect/>
          </a:stretch>
        </p:blipFill>
        <p:spPr>
          <a:xfrm>
            <a:off x="3721100" y="4482059"/>
            <a:ext cx="4000978" cy="141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11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4952-F851-DB44-2101-A4073690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7474-6DDB-1CF0-28EC-7EB840AB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Annotation des variants : comment savoir si un variant est fonctionnel // FAUX-SENS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431031-DBC3-7200-D3E0-577EE132EA96}"/>
              </a:ext>
            </a:extLst>
          </p:cNvPr>
          <p:cNvSpPr txBox="1">
            <a:spLocks/>
          </p:cNvSpPr>
          <p:nvPr/>
        </p:nvSpPr>
        <p:spPr>
          <a:xfrm>
            <a:off x="838200" y="1789530"/>
            <a:ext cx="10515600" cy="4887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/>
              <a:t>Les variants faux-sens modifient un acide aminé d'un gène codant pour une protéine</a:t>
            </a:r>
          </a:p>
          <a:p>
            <a:pPr lvl="1">
              <a:lnSpc>
                <a:spcPct val="110000"/>
              </a:lnSpc>
            </a:pPr>
            <a:r>
              <a:rPr lang="en-US" sz="2100"/>
              <a:t>Repliement et structure</a:t>
            </a:r>
          </a:p>
          <a:p>
            <a:pPr lvl="1">
              <a:lnSpc>
                <a:spcPct val="110000"/>
              </a:lnSpc>
            </a:pPr>
            <a:r>
              <a:rPr lang="en-US" sz="2100"/>
              <a:t>Fonction d'un site actif ou d'une interface de liaison</a:t>
            </a:r>
          </a:p>
          <a:p>
            <a:pPr lvl="1">
              <a:lnSpc>
                <a:spcPct val="110000"/>
              </a:lnSpc>
            </a:pPr>
            <a:r>
              <a:rPr lang="en-US" sz="2100"/>
              <a:t>Stabilité de la protéine</a:t>
            </a:r>
          </a:p>
          <a:p>
            <a:pPr lvl="1">
              <a:lnSpc>
                <a:spcPct val="110000"/>
              </a:lnSpc>
            </a:pPr>
            <a:r>
              <a:rPr lang="en-US" sz="2100"/>
              <a:t>Capacité pour les modifications post-traductionnelles ou le ciblage correct</a:t>
            </a:r>
          </a:p>
          <a:p>
            <a:pPr>
              <a:lnSpc>
                <a:spcPct val="110000"/>
              </a:lnSpc>
            </a:pPr>
            <a:r>
              <a:rPr lang="en-US" sz="2400"/>
              <a:t>De nombreux variants faux-sens sont compatibles avec une fonction normale et certains sont très courants, mais d'autres variants faux-sens créeront une protéine non fonctionnelle ou instable</a:t>
            </a:r>
          </a:p>
          <a:p>
            <a:pPr>
              <a:lnSpc>
                <a:spcPct val="110000"/>
              </a:lnSpc>
            </a:pPr>
            <a:r>
              <a:rPr lang="en-US" sz="2400"/>
              <a:t>Il existe de nombreux algorithmes bio-informatiques conçus pour prédire la nocivité ou le caractère délétère d'une substitution faux-sens</a:t>
            </a:r>
          </a:p>
          <a:p>
            <a:pPr lvl="1">
              <a:lnSpc>
                <a:spcPct val="110000"/>
              </a:lnSpc>
            </a:pPr>
            <a:r>
              <a:rPr lang="en-US" sz="2100"/>
              <a:t>SIFT, PolyPhen, REVEL, PrimateAI, AlphaMissense, VEST4, FATHMM</a:t>
            </a:r>
          </a:p>
          <a:p>
            <a:pPr>
              <a:lnSpc>
                <a:spcPct val="110000"/>
              </a:lnSpc>
            </a:pPr>
            <a:r>
              <a:rPr lang="en-US" sz="2400"/>
              <a:t>En tant que catégorie, celle-ci doit être filtrée en variants prédits délétères et prédits tolérés. Le sous-ensemble prédit délétère sera généralement qualifié pour un test de charge ou une autre étude génotype-phénotype</a:t>
            </a:r>
          </a:p>
          <a:p>
            <a:pPr>
              <a:lnSpc>
                <a:spcPct val="11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8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B1A1C-5E3B-A627-21C8-117F505F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9ED1B-953C-1D90-D002-51ED3A16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0"/>
            <a:ext cx="5257800" cy="3786811"/>
          </a:xfrm>
        </p:spPr>
        <p:txBody>
          <a:bodyPr>
            <a:normAutofit fontScale="85000" lnSpcReduction="10000"/>
          </a:bodyPr>
          <a:lstStyle/>
          <a:p>
            <a:r>
              <a:rPr lang="en-US" sz="2400"/>
              <a:t>AlphaMissense</a:t>
            </a:r>
          </a:p>
          <a:p>
            <a:r>
              <a:rPr lang="en-US" sz="2400"/>
              <a:t>Modèle d'apprentissage profond qui prédit la pathogénicité des variants faux-sens en apprenant des motifs à partir de la séquence protéique, de la structure et de la conservation évolutive entre espèces</a:t>
            </a:r>
          </a:p>
          <a:p>
            <a:r>
              <a:rPr lang="en-US" sz="2400"/>
              <a:t>Produit un score qui classe les variants comme probablement bénins, probablement pathogènes, ou incertains, sur la base d'une comparaison entre le variant et l'acide aminé de référence</a:t>
            </a:r>
          </a:p>
          <a:p>
            <a:r>
              <a:rPr lang="en-US" sz="2400"/>
              <a:t>De nombreux autres algorithmes existent également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EBEA3-2C65-1216-AA47-FE96C18D3586}"/>
              </a:ext>
            </a:extLst>
          </p:cNvPr>
          <p:cNvSpPr txBox="1"/>
          <p:nvPr/>
        </p:nvSpPr>
        <p:spPr>
          <a:xfrm>
            <a:off x="262328" y="6053376"/>
            <a:ext cx="11929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Cheng J, et al. Accurate proteome-wide missense variant effect prediction with AlphaMissense. Science. 2023 Sep 22;381(6664):eadg7492. </a:t>
            </a:r>
            <a:r>
              <a:rPr lang="en-US" sz="1200">
                <a:hlinkClick r:id="rId2"/>
              </a:rPr>
              <a:t>https://www.science.org/doi/10.1126/science.adg7492</a:t>
            </a:r>
            <a:r>
              <a:rPr lang="en-US" sz="120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5C0B6F-6F8A-E28F-E7B2-FC99377E87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007" b="29383"/>
          <a:stretch>
            <a:fillRect/>
          </a:stretch>
        </p:blipFill>
        <p:spPr>
          <a:xfrm>
            <a:off x="6467207" y="2167723"/>
            <a:ext cx="5554475" cy="312724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C48D44-1430-15F8-28C5-A35707D78F5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solidFill>
                  <a:schemeClr val="accent1"/>
                </a:solidFill>
              </a:rPr>
              <a:t>Annotation des variants : comment savoir si un variant est fonctionnel // SITE D'ÉPISSAGE</a:t>
            </a:r>
            <a:endParaRPr lang="en-US" sz="40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601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C009-9CC0-0CF3-E181-E04663F0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F4D9-BFE0-50F9-D898-7F29A7E4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Principes d'association des maladies génétiques rares</a:t>
            </a:r>
            <a:endParaRPr lang="en-US" sz="4000" b="1" dirty="0">
              <a:solidFill>
                <a:schemeClr val="accent1"/>
              </a:solidFill>
            </a:endParaRPr>
          </a:p>
        </p:txBody>
      </p:sp>
      <p:pic>
        <p:nvPicPr>
          <p:cNvPr id="5" name="Picture 4" descr="Individuals must have two copies of the mutated gene to display an autosomal recessive condition. Heterozygous individuals (carriers) can transmit the allele to offspring but are not themselves affected.">
            <a:extLst>
              <a:ext uri="{FF2B5EF4-FFF2-40B4-BE49-F238E27FC236}">
                <a16:creationId xmlns:a16="http://schemas.microsoft.com/office/drawing/2014/main" id="{3D95C829-6CC7-80E6-1665-1A6119D2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92" t="12977"/>
          <a:stretch>
            <a:fillRect/>
          </a:stretch>
        </p:blipFill>
        <p:spPr>
          <a:xfrm>
            <a:off x="623454" y="2054603"/>
            <a:ext cx="2514600" cy="2748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E96406-1EA0-5646-CC21-731D24120AF8}"/>
              </a:ext>
            </a:extLst>
          </p:cNvPr>
          <p:cNvSpPr txBox="1"/>
          <p:nvPr/>
        </p:nvSpPr>
        <p:spPr>
          <a:xfrm>
            <a:off x="623454" y="4803397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25%	50%	25%</a:t>
            </a: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D946F861-209E-EB82-DF5D-8951E8065589}"/>
              </a:ext>
            </a:extLst>
          </p:cNvPr>
          <p:cNvSpPr/>
          <p:nvPr/>
        </p:nvSpPr>
        <p:spPr>
          <a:xfrm rot="5400000">
            <a:off x="1803404" y="4087908"/>
            <a:ext cx="71877" cy="1107802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53763D-6457-9495-3F21-5B661761A0AE}"/>
              </a:ext>
            </a:extLst>
          </p:cNvPr>
          <p:cNvSpPr/>
          <p:nvPr/>
        </p:nvSpPr>
        <p:spPr>
          <a:xfrm>
            <a:off x="2452255" y="3429000"/>
            <a:ext cx="691543" cy="17437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1AE0DB7-8EBA-C419-E5C1-C142175E0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396" y="1917505"/>
            <a:ext cx="8102150" cy="432072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/>
              <a:t>Le variant causal doit être rare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Le variant causal doit être plus fréquent chez les cas atteints que chez les témoins non atteints</a:t>
            </a:r>
          </a:p>
          <a:p>
            <a:pPr lvl="1"/>
            <a:r>
              <a:rPr lang="en-US" sz="2000"/>
              <a:t>Si des données génétiques familiales sont disponibles, le variant causal doit ségréger avec le trait dans cette famille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Le variant doit avoir un effet fonctionnel sur la biologie différent de la référence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/>
              <a:t>Prédictions bio-informatiques, tests expérimentaux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Une deuxième ligne de preuve indépendante soutient également la relation gène-maladie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/>
              <a:t>Autres familles ou études, modèles animaux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A7C9A-C358-C925-0F12-3A73150B96BB}"/>
              </a:ext>
            </a:extLst>
          </p:cNvPr>
          <p:cNvSpPr txBox="1"/>
          <p:nvPr/>
        </p:nvSpPr>
        <p:spPr>
          <a:xfrm>
            <a:off x="264442" y="6238230"/>
            <a:ext cx="11663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Strande NT, et al. Evaluating the Clinical Validity of Gene-Disease Associations: An Evidence-Based Framework Developed by the Clinical Genome Resource. Am J Hum Genet. 2017 Jun 1;100(6):895-906.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: 10.1016/j.ajhg.2017.04.015. </a:t>
            </a:r>
            <a:r>
              <a:rPr lang="en-US" sz="1200" b="0" i="0" dirty="0" err="1">
                <a:solidFill>
                  <a:schemeClr val="tx1"/>
                </a:solidFill>
                <a:effectLst/>
                <a:latin typeface="+mn-lt"/>
              </a:rPr>
              <a:t>Epub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+mn-lt"/>
              </a:rPr>
              <a:t> 2017 May 25. </a:t>
            </a:r>
            <a:r>
              <a:rPr lang="en-US" sz="1200" dirty="0">
                <a:hlinkClick r:id="rId3"/>
              </a:rPr>
              <a:t>https://pmc.ncbi.nlm.nih.gov/articles/PMC5473734/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051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6B70-350D-565A-1281-63031149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</a:rPr>
              <a:t>Flux de travail du test de charge :</a:t>
            </a:r>
            <a:endParaRPr lang="en-US" sz="400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E7006-89ED-92ED-B726-B5E68D03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/>
              <a:t>Utiliser l'expertise du domaine pour définir les paramètres et les covariables clés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/>
              <a:t>Annoter tous les variants observés avec leur conséquence, leur fréquence et les prédictions bio-informatiques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/>
              <a:t>Appliquer des filtres pour déterminer l'ensemble des variants qualifiés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/>
              <a:t>Réaliser une analyse statistique pour déterminer si les cas et les témoins présentent une asymétrie dans leur charge de variants qualifiés porteurs, pour un gène donné</a:t>
            </a:r>
          </a:p>
          <a:p>
            <a:pPr marL="514350" indent="-514350">
              <a:buFont typeface="+mj-lt"/>
              <a:buAutoNum type="arabicPeriod"/>
            </a:pP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24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4371-5BFA-98E1-604E-C06BD583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</a:rPr>
              <a:t>Note: ancestry stratification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7032F-4E51-993B-9E71-E2E962E0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665"/>
            <a:ext cx="10515600" cy="480218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sz="2400"/>
              <a:t>Contrôler la parenté et la stratification au sein de la cohorte prête pour l'analyse est ESSENTIEL pour mener des études génotype-phénotype de manière precise</a:t>
            </a:r>
          </a:p>
          <a:p>
            <a:pPr lvl="0">
              <a:lnSpc>
                <a:spcPct val="110000"/>
              </a:lnSpc>
            </a:pPr>
            <a:r>
              <a:rPr lang="en-US" sz="2400"/>
              <a:t>Les personnes plus similaires en général seront plus similaires à chaque gène, pas seulement au(x) gène(s) réellement associé(s) à votre trait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Cela peut créer des faux positifs (inflation génomique)</a:t>
            </a:r>
          </a:p>
          <a:p>
            <a:pPr lvl="0">
              <a:lnSpc>
                <a:spcPct val="110000"/>
              </a:lnSpc>
            </a:pPr>
            <a:r>
              <a:rPr lang="en-US" sz="2400"/>
              <a:t>Les maladies peuvent avoir une architecture génétique différente selon les populations, surtout en présence d'effets fondateurs (hétérogénéité génétique ; diapositive 7)</a:t>
            </a:r>
          </a:p>
          <a:p>
            <a:pPr>
              <a:lnSpc>
                <a:spcPct val="110000"/>
              </a:lnSpc>
            </a:pPr>
            <a:r>
              <a:rPr lang="en-US" sz="2400"/>
              <a:t>Meilleure approche : tenir compte de l'ascendance et de toute parenté connue lors du recrutement des cas et des témoins</a:t>
            </a:r>
          </a:p>
          <a:p>
            <a:pPr>
              <a:lnSpc>
                <a:spcPct val="110000"/>
              </a:lnSpc>
            </a:pPr>
            <a:r>
              <a:rPr lang="en-US" sz="2400"/>
              <a:t>Approche suivante recommandée : intégrer les composantes principales comme covariables</a:t>
            </a:r>
          </a:p>
          <a:p>
            <a:pPr lvl="1">
              <a:lnSpc>
                <a:spcPct val="110000"/>
              </a:lnSpc>
            </a:pPr>
            <a:r>
              <a:rPr lang="en-US" sz="2000"/>
              <a:t>Pour une cohorte hautement multiethnique, il peut être nécessaire d'aller plus loin et d'utiliser des techniques de méta-analyse</a:t>
            </a:r>
          </a:p>
        </p:txBody>
      </p:sp>
    </p:spTree>
    <p:extLst>
      <p:ext uri="{BB962C8B-B14F-4D97-AF65-F5344CB8AC3E}">
        <p14:creationId xmlns:p14="http://schemas.microsoft.com/office/powerpoint/2010/main" val="206384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8771</TotalTime>
  <Words>2824</Words>
  <Application>Microsoft Macintosh PowerPoint</Application>
  <PresentationFormat>Widescreen</PresentationFormat>
  <Paragraphs>210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Office Theme</vt:lpstr>
      <vt:lpstr>Atelier ACE : Génétique des maladies rares et tests de charge génétique.</vt:lpstr>
      <vt:lpstr>Variation génétique et maladie</vt:lpstr>
      <vt:lpstr>Une composante fondamentale de la recherche axée sur les maladies consiste à distinguer les variants pertinents des variants non liés au trait d'intérêt</vt:lpstr>
      <vt:lpstr>Maladie génétique rare</vt:lpstr>
      <vt:lpstr>Définitions:</vt:lpstr>
      <vt:lpstr>Principes d'association des maladies génétiques rares</vt:lpstr>
      <vt:lpstr>Principes d'association des maladies génétiques rares</vt:lpstr>
      <vt:lpstr>Tests de charge (burden) et SKAT (test d'association par noyau de sequence) pour l'association gène-maladie</vt:lpstr>
      <vt:lpstr>Comparaison de modèles statistiques</vt:lpstr>
      <vt:lpstr>Principes d'association des maladies génétiques rares</vt:lpstr>
      <vt:lpstr>Annotation des variants : comment savoir si un variant est rare</vt:lpstr>
      <vt:lpstr>Annotation des variants : comment savoir si un variant est rare</vt:lpstr>
      <vt:lpstr>ClinVar: https://www.ncbi.nlm.nih.gov/clinvar/</vt:lpstr>
      <vt:lpstr>Ressource ClinVar: page de variant</vt:lpstr>
      <vt:lpstr>gnomAD: GeNOMe Aggregation Database</vt:lpstr>
      <vt:lpstr>gnomAD ressource</vt:lpstr>
      <vt:lpstr>Annotation des variants : comment savoir si un variant est fonctionnel</vt:lpstr>
      <vt:lpstr>Annotation des variants : comment savoir si un variant est fonctionnel // PERTE DE FONCTION</vt:lpstr>
      <vt:lpstr>Annotation des variants : comment savoir si un variant est fonctionnel // SITE D'ÉPISSAGE</vt:lpstr>
      <vt:lpstr>Annotation des variants : comment savoir si un variant est fonctionnel // FAUX-SENS</vt:lpstr>
      <vt:lpstr>PowerPoint Presentation</vt:lpstr>
      <vt:lpstr>Principes d'association des maladies génétiques rares</vt:lpstr>
      <vt:lpstr>Flux de travail du test de charge :</vt:lpstr>
      <vt:lpstr>Note: ancestry stratification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Berghout, Joanne (NIH/NIAID) [C]</dc:creator>
  <cp:lastModifiedBy>Berghout, Joanne (NIH/NIAID) [C]</cp:lastModifiedBy>
  <cp:revision>2</cp:revision>
  <dcterms:created xsi:type="dcterms:W3CDTF">2026-08-24T20:16:27Z</dcterms:created>
  <dcterms:modified xsi:type="dcterms:W3CDTF">2026-09-07T20:47:53Z</dcterms:modified>
</cp:coreProperties>
</file>